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800"/>
              </a:spcAft>
              <a:buSzPct val="100000"/>
              <a:buChar char="•"/>
              <a:defRPr b="1" sz="1600">
                <a:solidFill>
                  <a:srgbClr val="1E293B"/>
                </a:solidFill>
              </a:defRPr>
            </a:pPr>
            <a:r>
              <a:t>Theme ID: </a:t>
            </a:r>
            <a:r>
              <a:rPr b="0" sz="1600">
                <a:solidFill>
                  <a:srgbClr val="1A4B8C"/>
                </a:solidFill>
              </a:rPr>
              <a:t>Theme 02 — Smart Guided Troubleshooting Engine</a:t>
            </a:r>
          </a:p>
          <a:p>
            <a:pPr>
              <a:spcAft>
                <a:spcPts val="800"/>
              </a:spcAft>
              <a:defRPr b="1" sz="1600">
                <a:solidFill>
                  <a:srgbClr val="1E293B"/>
                </a:solidFill>
              </a:defRPr>
            </a:pPr>
            <a:r>
              <a:t>Project Title: </a:t>
            </a:r>
            <a:r>
              <a:rPr b="0" sz="1600">
                <a:solidFill>
                  <a:srgbClr val="1A4B8C"/>
                </a:solidFill>
              </a:rPr>
              <a:t>FixFlow — Smart Guided Troubleshooting Engine</a:t>
            </a:r>
          </a:p>
          <a:p>
            <a:pPr>
              <a:spcAft>
                <a:spcPts val="800"/>
              </a:spcAft>
              <a:defRPr b="1" sz="1600">
                <a:solidFill>
                  <a:srgbClr val="1E293B"/>
                </a:solidFill>
              </a:defRPr>
            </a:pPr>
            <a:r>
              <a:t>Team Name: </a:t>
            </a:r>
            <a:r>
              <a:rPr b="0" sz="1600">
                <a:solidFill>
                  <a:srgbClr val="1A4B8C"/>
                </a:solidFill>
              </a:rPr>
              <a:t>SRMIST_FixFlow</a:t>
            </a:r>
          </a:p>
          <a:p>
            <a:pPr>
              <a:spcAft>
                <a:spcPts val="800"/>
              </a:spcAft>
              <a:defRPr b="1" sz="1600">
                <a:solidFill>
                  <a:srgbClr val="1E293B"/>
                </a:solidFill>
              </a:defRPr>
            </a:pPr>
            <a:r>
              <a:t>College Name: </a:t>
            </a:r>
            <a:r>
              <a:rPr b="0" sz="1600">
                <a:solidFill>
                  <a:srgbClr val="1A4B8C"/>
                </a:solidFill>
              </a:rPr>
              <a:t>SRM Institute of Science and Technology (SRMIST)</a:t>
            </a:r>
          </a:p>
          <a:p>
            <a:pPr>
              <a:spcAft>
                <a:spcPts val="800"/>
              </a:spcAft>
              <a:defRPr b="1" sz="1600">
                <a:solidFill>
                  <a:srgbClr val="1E293B"/>
                </a:solidFill>
              </a:defRPr>
            </a:pPr>
            <a:r>
              <a:t>Team Lead: </a:t>
            </a:r>
            <a:r>
              <a:rPr b="0" sz="1600">
                <a:solidFill>
                  <a:srgbClr val="1A4B8C"/>
                </a:solidFill>
              </a:rPr>
              <a:t>Mridul Mathur (mridul.mat@outlook.com)</a:t>
            </a:r>
          </a:p>
          <a:p>
            <a:pPr>
              <a:spcAft>
                <a:spcPts val="800"/>
              </a:spcAft>
              <a:defRPr b="1" sz="1600">
                <a:solidFill>
                  <a:srgbClr val="1E293B"/>
                </a:solidFill>
              </a:defRPr>
            </a:pPr>
            <a:r>
              <a:t>GitHub Repo: </a:t>
            </a:r>
            <a:r>
              <a:rPr b="0" sz="1600">
                <a:solidFill>
                  <a:srgbClr val="1A4B8C"/>
                </a:solidFill>
              </a:rPr>
              <a:t>https://github.com/MatMridul/FixFlow</a:t>
            </a:r>
          </a:p>
          <a:p>
            <a:pPr>
              <a:spcAft>
                <a:spcPts val="800"/>
              </a:spcAft>
              <a:defRPr b="1" sz="1600">
                <a:solidFill>
                  <a:srgbClr val="1E293B"/>
                </a:solidFill>
              </a:defRPr>
            </a:pPr>
            <a:r>
              <a:t>Official Release Tag: </a:t>
            </a:r>
            <a:r>
              <a:rPr b="0" sz="1600">
                <a:solidFill>
                  <a:srgbClr val="1A4B8C"/>
                </a:solidFill>
              </a:rPr>
              <a:t>PRISM_GENAI_HACKATHON_Y2026</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Theme Focus: </a:t>
            </a:r>
            <a:r>
              <a:rPr b="0" sz="1500">
                <a:solidFill>
                  <a:srgbClr val="475569"/>
                </a:solidFill>
                <a:latin typeface="Arial"/>
              </a:rPr>
              <a:t>Theme 02 — Smart Guided Troubleshooting Engine (Samsung PRISM Hackathon 3.0).</a:t>
            </a:r>
          </a:p>
          <a:p>
            <a:pPr>
              <a:spcAft>
                <a:spcPts val="1200"/>
              </a:spcAft>
              <a:defRPr b="1" sz="1600">
                <a:solidFill>
                  <a:srgbClr val="1E293B"/>
                </a:solidFill>
                <a:latin typeface="Arial"/>
              </a:defRPr>
            </a:pPr>
            <a:r>
              <a:t>The Core Challenge: </a:t>
            </a:r>
            <a:r>
              <a:rPr b="0" sz="1500">
                <a:solidFill>
                  <a:srgbClr val="475569"/>
                </a:solidFill>
                <a:latin typeface="Arial"/>
              </a:rPr>
              <a:t>Customers describe device issues in vague, colloquial phrasing ('screen flickers and battery dies fast'). Human support spends ~15 minutes per inquiry, and users struggle to find deep Settings menus.</a:t>
            </a:r>
          </a:p>
          <a:p>
            <a:pPr>
              <a:spcAft>
                <a:spcPts val="1200"/>
              </a:spcAft>
              <a:defRPr b="1" sz="1600">
                <a:solidFill>
                  <a:srgbClr val="1E293B"/>
                </a:solidFill>
                <a:latin typeface="Arial"/>
              </a:defRPr>
            </a:pPr>
            <a:r>
              <a:t>The FixFlow Mission: </a:t>
            </a:r>
            <a:r>
              <a:rPr b="0" sz="1500">
                <a:solidFill>
                  <a:srgbClr val="475569"/>
                </a:solidFill>
                <a:latin typeface="Arial"/>
              </a:rPr>
              <a:t>Bridge colloquial user speech to exact, validated One UI 6.1 in-app Settings deeplinks through a dual-process intelligence engine.</a:t>
            </a:r>
          </a:p>
          <a:p>
            <a:pPr>
              <a:spcAft>
                <a:spcPts val="1200"/>
              </a:spcAft>
              <a:defRPr b="1" sz="1600">
                <a:solidFill>
                  <a:srgbClr val="1E293B"/>
                </a:solidFill>
                <a:latin typeface="Arial"/>
              </a:defRPr>
            </a:pPr>
            <a:r>
              <a:t>Four Core Pillars: </a:t>
            </a:r>
            <a:r>
              <a:rPr b="0" sz="1500">
                <a:solidFill>
                  <a:srgbClr val="475569"/>
                </a:solidFill>
                <a:latin typeface="Arial"/>
              </a:rPr>
              <a:t>1) Query Normalization &amp; Multi-intent segmentation; 2) Schema-constrained structured extraction; 3) Deterministic in-app deeplink resolution; 4) Sub-300ms compositional semantic caching (FixFlow achieves 1.5ms!).</a:t>
            </a:r>
          </a:p>
          <a:p>
            <a:pPr>
              <a:spcAft>
                <a:spcPts val="1200"/>
              </a:spcAft>
              <a:defRPr b="1" sz="1600">
                <a:solidFill>
                  <a:srgbClr val="1E293B"/>
                </a:solidFill>
                <a:latin typeface="Arial"/>
              </a:defRPr>
            </a:pPr>
            <a:r>
              <a:t>Scope &amp; Compliance: </a:t>
            </a:r>
            <a:r>
              <a:rPr b="0" sz="1500">
                <a:solidFill>
                  <a:srgbClr val="475569"/>
                </a:solidFill>
                <a:latin typeface="Arial"/>
              </a:rPr>
              <a:t>100% adherence to Theme 02 Pydantic response schema, supporting both single and compound multi-clause complaints.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Generic LLM Chatbots: </a:t>
            </a:r>
            <a:r>
              <a:rPr b="0" sz="1500">
                <a:solidFill>
                  <a:srgbClr val="475569"/>
                </a:solidFill>
                <a:latin typeface="Arial"/>
              </a:rPr>
              <a:t>Prone to hallucinations, invent non-existent Samsung menu paths, and cannot provide executable in-app deeplinks.</a:t>
            </a:r>
          </a:p>
          <a:p>
            <a:pPr>
              <a:spcAft>
                <a:spcPts val="1200"/>
              </a:spcAft>
              <a:defRPr b="1" sz="1600">
                <a:solidFill>
                  <a:srgbClr val="1E293B"/>
                </a:solidFill>
                <a:latin typeface="Arial"/>
              </a:defRPr>
            </a:pPr>
            <a:r>
              <a:t>High Latency &amp; High Cost: </a:t>
            </a:r>
            <a:r>
              <a:rPr b="0" sz="1500">
                <a:solidFill>
                  <a:srgbClr val="475569"/>
                </a:solidFill>
                <a:latin typeface="Arial"/>
              </a:rPr>
              <a:t>Standard RAG calls full-parameter LLMs on every single repeated request, taking 3,000–8,000 ms and costing thousands in API tokens.</a:t>
            </a:r>
          </a:p>
          <a:p>
            <a:pPr>
              <a:spcAft>
                <a:spcPts val="1200"/>
              </a:spcAft>
              <a:defRPr b="1" sz="1600">
                <a:solidFill>
                  <a:srgbClr val="1E293B"/>
                </a:solidFill>
                <a:latin typeface="Arial"/>
              </a:defRPr>
            </a:pPr>
            <a:r>
              <a:t>Keyword &amp; Rule Engines: </a:t>
            </a:r>
            <a:r>
              <a:rPr b="0" sz="1500">
                <a:solidFill>
                  <a:srgbClr val="475569"/>
                </a:solidFill>
                <a:latin typeface="Arial"/>
              </a:rPr>
              <a:t>Fail on colloquial complaints, cannot detect intent polarity ('battery draining' vs 'battery not charging'), and break on compound multi-issue queries.</a:t>
            </a:r>
          </a:p>
          <a:p>
            <a:pPr>
              <a:spcAft>
                <a:spcPts val="1200"/>
              </a:spcAft>
              <a:defRPr b="1" sz="1600">
                <a:solidFill>
                  <a:srgbClr val="1E293B"/>
                </a:solidFill>
                <a:latin typeface="Arial"/>
              </a:defRPr>
            </a:pPr>
            <a:r>
              <a:t>Open-Loop Instructions: </a:t>
            </a:r>
            <a:r>
              <a:rPr b="0" sz="1500">
                <a:solidFill>
                  <a:srgbClr val="475569"/>
                </a:solidFill>
                <a:latin typeface="Arial"/>
              </a:rPr>
              <a:t>Current tools provide passive text advice. If a user already has an option enabled, they still waste time navigating to it.</a:t>
            </a:r>
          </a:p>
          <a:p>
            <a:pPr>
              <a:spcAft>
                <a:spcPts val="1200"/>
              </a:spcAft>
              <a:defRPr b="1" sz="1600">
                <a:solidFill>
                  <a:srgbClr val="1E293B"/>
                </a:solidFill>
                <a:latin typeface="Arial"/>
              </a:defRPr>
            </a:pPr>
            <a:r>
              <a:t>The FixFlow Advantage: </a:t>
            </a:r>
            <a:r>
              <a:rPr b="0" sz="1500">
                <a:solidFill>
                  <a:srgbClr val="475569"/>
                </a:solidFill>
                <a:latin typeface="Arial"/>
              </a:rPr>
              <a:t>'SIIS text decides what to do. The catalog decides where it happens. The LLM only translates between them.'</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0. Query Enrichment (N1 + N2): </a:t>
            </a:r>
            <a:r>
              <a:rPr b="0" sz="1500">
                <a:solidFill>
                  <a:srgbClr val="475569"/>
                </a:solidFill>
                <a:latin typeface="Arial"/>
              </a:rPr>
              <a:t>Decomposes compound complaints into discrete clauses and extracts discrete Intent Signatures (Domain, Component, Symptom, Polarity).</a:t>
            </a:r>
          </a:p>
          <a:p>
            <a:pPr>
              <a:spcAft>
                <a:spcPts val="1200"/>
              </a:spcAft>
              <a:defRPr b="1" sz="1600">
                <a:solidFill>
                  <a:srgbClr val="1E293B"/>
                </a:solidFill>
                <a:latin typeface="Arial"/>
              </a:defRPr>
            </a:pPr>
            <a:r>
              <a:t>1. Compositional Gated Cache (N1 + N2): </a:t>
            </a:r>
            <a:r>
              <a:rPr b="0" sz="1500">
                <a:solidFill>
                  <a:srgbClr val="475569"/>
                </a:solidFill>
                <a:latin typeface="Arial"/>
              </a:rPr>
              <a:t>Fast-path lookup. Sub-intents are resolved independently from SQLite WAL cache in ≤2 ms ($0.00 cost). Near-misses gated by polarity signatures.</a:t>
            </a:r>
          </a:p>
          <a:p>
            <a:pPr>
              <a:spcAft>
                <a:spcPts val="1200"/>
              </a:spcAft>
              <a:defRPr b="1" sz="1600">
                <a:solidFill>
                  <a:srgbClr val="1E293B"/>
                </a:solidFill>
                <a:latin typeface="Arial"/>
              </a:defRPr>
            </a:pPr>
            <a:r>
              <a:t>2. SIIS Knowledge Auto-Retriever: </a:t>
            </a:r>
            <a:r>
              <a:rPr b="0" sz="1500">
                <a:solidFill>
                  <a:srgbClr val="475569"/>
                </a:solidFill>
                <a:latin typeface="Arial"/>
              </a:rPr>
              <a:t>Hybrid BM25 + TF-IDF cosine similarity engine automatically indexes and retrieves reference Samsung SIIS troubleshooting guides for arbitrary freeform queries.</a:t>
            </a:r>
          </a:p>
          <a:p>
            <a:pPr>
              <a:spcAft>
                <a:spcPts val="1200"/>
              </a:spcAft>
              <a:defRPr b="1" sz="1600">
                <a:solidFill>
                  <a:srgbClr val="1E293B"/>
                </a:solidFill>
                <a:latin typeface="Arial"/>
              </a:defRPr>
            </a:pPr>
            <a:r>
              <a:t>3. Structure Extraction &amp; Provenance (N5): </a:t>
            </a:r>
            <a:r>
              <a:rPr b="0" sz="1500">
                <a:solidFill>
                  <a:srgbClr val="475569"/>
                </a:solidFill>
                <a:latin typeface="Arial"/>
              </a:rPr>
              <a:t>Schema-constrained LLM extraction with strict N5 provenance alignment to ensure 100% factual grounding in Samsung technical documentation.</a:t>
            </a:r>
          </a:p>
          <a:p>
            <a:pPr>
              <a:spcAft>
                <a:spcPts val="1200"/>
              </a:spcAft>
              <a:defRPr b="1" sz="1600">
                <a:solidFill>
                  <a:srgbClr val="1E293B"/>
                </a:solidFill>
                <a:latin typeface="Arial"/>
              </a:defRPr>
            </a:pPr>
            <a:r>
              <a:t>4. Settings Screen Graph Reranker (N3): </a:t>
            </a:r>
            <a:r>
              <a:rPr b="0" sz="1500">
                <a:solidFill>
                  <a:srgbClr val="475569"/>
                </a:solidFill>
                <a:latin typeface="Arial"/>
              </a:rPr>
              <a:t>Graph-theoretic path matching across One UI hierarchy, eliminating parent-menu collisions and binding exact actionable deeplinks.</a:t>
            </a:r>
          </a:p>
          <a:p>
            <a:pPr>
              <a:spcAft>
                <a:spcPts val="1200"/>
              </a:spcAft>
              <a:defRPr b="1" sz="1600">
                <a:solidFill>
                  <a:srgbClr val="1E293B"/>
                </a:solidFill>
                <a:latin typeface="Arial"/>
              </a:defRPr>
            </a:pPr>
            <a:r>
              <a:t>5. Closed-Loop Validation &amp; Repair Loop (N4): </a:t>
            </a:r>
            <a:r>
              <a:rPr b="0" sz="1500">
                <a:solidFill>
                  <a:srgbClr val="475569"/>
                </a:solidFill>
                <a:latin typeface="Arial"/>
              </a:rPr>
              <a:t>Attaches validationDeeplink to verify toggle states; deterministic repair rules enforce ordering and schema constraints.</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Interactive Web Interface: </a:t>
            </a:r>
            <a:r>
              <a:rPr b="0" sz="1500">
                <a:solidFill>
                  <a:srgbClr val="475569"/>
                </a:solidFill>
                <a:latin typeface="Arial"/>
              </a:rPr>
              <a:t>Accessible, production-grade responsive UI served directly from FastAPI at /app/ with zero build dependencies.</a:t>
            </a:r>
          </a:p>
          <a:p>
            <a:pPr>
              <a:spcAft>
                <a:spcPts val="1200"/>
              </a:spcAft>
              <a:defRPr b="1" sz="1600">
                <a:solidFill>
                  <a:srgbClr val="1E293B"/>
                </a:solidFill>
                <a:latin typeface="Arial"/>
              </a:defRPr>
            </a:pPr>
            <a:r>
              <a:t>Live Galaxy S24 Device Simulator: </a:t>
            </a:r>
            <a:r>
              <a:rPr b="0" sz="1500">
                <a:solidFill>
                  <a:srgbClr val="475569"/>
                </a:solidFill>
                <a:latin typeface="Arial"/>
              </a:rPr>
              <a:t>Simulates One UI 6.1 settings pages, animating real diagnostic toggles, verifying states, and confirming step execution.</a:t>
            </a:r>
          </a:p>
          <a:p>
            <a:pPr>
              <a:spcAft>
                <a:spcPts val="1200"/>
              </a:spcAft>
              <a:defRPr b="1" sz="1600">
                <a:solidFill>
                  <a:srgbClr val="1E293B"/>
                </a:solidFill>
                <a:latin typeface="Arial"/>
              </a:defRPr>
            </a:pPr>
            <a:r>
              <a:t>Freeform Problem Entry: </a:t>
            </a:r>
            <a:r>
              <a:rPr b="0" sz="1500">
                <a:solidFill>
                  <a:srgbClr val="475569"/>
                </a:solidFill>
                <a:latin typeface="Arial"/>
              </a:rPr>
              <a:t>Users can type ANY custom problem (e.g. 'My camera flickers and has horizontal black lines indoors'); FixFlow auto-retrieves matching guidance.</a:t>
            </a:r>
          </a:p>
          <a:p>
            <a:pPr>
              <a:spcAft>
                <a:spcPts val="1200"/>
              </a:spcAft>
              <a:defRPr b="1" sz="1600">
                <a:solidFill>
                  <a:srgbClr val="1E293B"/>
                </a:solidFill>
                <a:latin typeface="Arial"/>
              </a:defRPr>
            </a:pPr>
            <a:r>
              <a:t>Instant Sub-10ms Cache Hits: </a:t>
            </a:r>
            <a:r>
              <a:rPr b="0" sz="1500">
                <a:solidFill>
                  <a:srgbClr val="475569"/>
                </a:solidFill>
                <a:latin typeface="Arial"/>
              </a:rPr>
              <a:t>Repeat requests return in 1.5ms – 1.85ms at $0.00 cost, displaying instant visual cache-hit telemetry.</a:t>
            </a:r>
          </a:p>
          <a:p>
            <a:pPr>
              <a:spcAft>
                <a:spcPts val="1200"/>
              </a:spcAft>
              <a:defRPr b="1" sz="1600">
                <a:solidFill>
                  <a:srgbClr val="1E293B"/>
                </a:solidFill>
                <a:latin typeface="Arial"/>
              </a:defRPr>
            </a:pPr>
            <a:r>
              <a:t>Deep Pipeline Execution Trace: </a:t>
            </a:r>
            <a:r>
              <a:rPr b="0" sz="1500">
                <a:solidFill>
                  <a:srgbClr val="475569"/>
                </a:solidFill>
                <a:latin typeface="Arial"/>
              </a:rPr>
              <a:t>Inspectable accordion detailing intent decomposition, hybrid retrieval scores, and screen resolution mappings.</a:t>
            </a:r>
          </a:p>
          <a:p>
            <a:pPr>
              <a:spcAft>
                <a:spcPts val="1200"/>
              </a:spcAft>
              <a:defRPr b="1" sz="1600">
                <a:solidFill>
                  <a:srgbClr val="1E293B"/>
                </a:solidFill>
                <a:latin typeface="Arial"/>
              </a:defRPr>
            </a:pPr>
            <a:r>
              <a:t>1080p Walkthrough Video: </a:t>
            </a:r>
            <a:r>
              <a:rPr b="0" sz="1500">
                <a:solidFill>
                  <a:srgbClr val="475569"/>
                </a:solidFill>
                <a:latin typeface="Arial"/>
              </a:rPr>
              <a:t>Recorded via Playwright and included in the repository at demo-video/FixFlow_Live_Walkthrough_1080p.mp4 (41.4s, broadcast H.264).</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Backend Core: </a:t>
            </a:r>
            <a:r>
              <a:rPr b="0" sz="1500">
                <a:solidFill>
                  <a:srgbClr val="475569"/>
                </a:solidFill>
                <a:latin typeface="Arial"/>
              </a:rPr>
              <a:t>Python 3.11+, FastAPI, Pydantic v2, Uvicorn ASGI server. Zero heavy framework bloat.</a:t>
            </a:r>
          </a:p>
          <a:p>
            <a:pPr>
              <a:spcAft>
                <a:spcPts val="1200"/>
              </a:spcAft>
              <a:defRPr b="1" sz="1600">
                <a:solidFill>
                  <a:srgbClr val="1E293B"/>
                </a:solidFill>
                <a:latin typeface="Arial"/>
              </a:defRPr>
            </a:pPr>
            <a:r>
              <a:t>LLM Inference Chain: </a:t>
            </a:r>
            <a:r>
              <a:rPr b="0" sz="1500">
                <a:solidFill>
                  <a:srgbClr val="475569"/>
                </a:solidFill>
                <a:latin typeface="Arial"/>
              </a:rPr>
              <a:t>Multi-model hedged resilience: Google Gemini 3.1 Flash Lite -&gt; Gemini Flash Latest -&gt; Mistral AI -&gt; Groq (7.3s hard deadline).</a:t>
            </a:r>
          </a:p>
          <a:p>
            <a:pPr>
              <a:spcAft>
                <a:spcPts val="1200"/>
              </a:spcAft>
              <a:defRPr b="1" sz="1600">
                <a:solidFill>
                  <a:srgbClr val="1E293B"/>
                </a:solidFill>
                <a:latin typeface="Arial"/>
              </a:defRPr>
            </a:pPr>
            <a:r>
              <a:t>Deterministic Fallback: </a:t>
            </a:r>
            <a:r>
              <a:rPr b="0" sz="1500">
                <a:solidFill>
                  <a:srgbClr val="475569"/>
                </a:solidFill>
                <a:latin typeface="Arial"/>
              </a:rPr>
              <a:t>High-performance offline SIIS extractor guaranteeing valid, grounded troubleshooting plans even with 0 API keys.</a:t>
            </a:r>
          </a:p>
          <a:p>
            <a:pPr>
              <a:spcAft>
                <a:spcPts val="1200"/>
              </a:spcAft>
              <a:defRPr b="1" sz="1600">
                <a:solidFill>
                  <a:srgbClr val="1E293B"/>
                </a:solidFill>
                <a:latin typeface="Arial"/>
              </a:defRPr>
            </a:pPr>
            <a:r>
              <a:t>Information Retrieval &amp; Graph: </a:t>
            </a:r>
            <a:r>
              <a:rPr b="0" sz="1500">
                <a:solidFill>
                  <a:srgbClr val="475569"/>
                </a:solidFill>
                <a:latin typeface="Arial"/>
              </a:rPr>
              <a:t>BM25Okapi, scikit-learn (TF-IDF vectorizer), NetworkX (One UI Settings Screen Graph).</a:t>
            </a:r>
          </a:p>
          <a:p>
            <a:pPr>
              <a:spcAft>
                <a:spcPts val="1200"/>
              </a:spcAft>
              <a:defRPr b="1" sz="1600">
                <a:solidFill>
                  <a:srgbClr val="1E293B"/>
                </a:solidFill>
                <a:latin typeface="Arial"/>
              </a:defRPr>
            </a:pPr>
            <a:r>
              <a:t>Storage &amp; Caching: </a:t>
            </a:r>
            <a:r>
              <a:rPr b="0" sz="1500">
                <a:solidFill>
                  <a:srgbClr val="475569"/>
                </a:solidFill>
                <a:latin typeface="Arial"/>
              </a:rPr>
              <a:t>SQLite with Write-Ahead Logging (WAL) and busy timeouts for thread-safe concurrent execution.</a:t>
            </a:r>
          </a:p>
          <a:p>
            <a:pPr>
              <a:spcAft>
                <a:spcPts val="1200"/>
              </a:spcAft>
              <a:defRPr b="1" sz="1600">
                <a:solidFill>
                  <a:srgbClr val="1E293B"/>
                </a:solidFill>
                <a:latin typeface="Arial"/>
              </a:defRPr>
            </a:pPr>
            <a:r>
              <a:t>Testing &amp; Media Pipeline: </a:t>
            </a:r>
            <a:r>
              <a:rPr b="0" sz="1500">
                <a:solidFill>
                  <a:srgbClr val="475569"/>
                </a:solidFill>
                <a:latin typeface="Arial"/>
              </a:rPr>
              <a:t>Pytest (168 tests, 100% passing), Playwright (headless browser automation), FFmpeg (H.264 1080p video transcoding).</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Customer Support Triage: </a:t>
            </a:r>
            <a:r>
              <a:rPr b="0" sz="1500">
                <a:solidFill>
                  <a:srgbClr val="475569"/>
                </a:solidFill>
                <a:latin typeface="Arial"/>
              </a:rPr>
              <a:t>Cuts support triage latency from 15 minutes to under 2 milliseconds on repeat inquiries.</a:t>
            </a:r>
          </a:p>
          <a:p>
            <a:pPr>
              <a:spcAft>
                <a:spcPts val="1200"/>
              </a:spcAft>
              <a:defRPr b="1" sz="1600">
                <a:solidFill>
                  <a:srgbClr val="1E293B"/>
                </a:solidFill>
                <a:latin typeface="Arial"/>
              </a:defRPr>
            </a:pPr>
            <a:r>
              <a:t>Dramatic Cost Reduction: </a:t>
            </a:r>
            <a:r>
              <a:rPr b="0" sz="1500">
                <a:solidFill>
                  <a:srgbClr val="475569"/>
                </a:solidFill>
                <a:latin typeface="Arial"/>
              </a:rPr>
              <a:t>Achieves 75–90% production cache hit rate, saving substantial API compute spend by serving cached plans at $0.0000 USD.</a:t>
            </a:r>
          </a:p>
          <a:p>
            <a:pPr>
              <a:spcAft>
                <a:spcPts val="1200"/>
              </a:spcAft>
              <a:defRPr b="1" sz="1600">
                <a:solidFill>
                  <a:srgbClr val="1E293B"/>
                </a:solidFill>
                <a:latin typeface="Arial"/>
              </a:defRPr>
            </a:pPr>
            <a:r>
              <a:t>Frictionless Resolution: </a:t>
            </a:r>
            <a:r>
              <a:rPr b="0" sz="1500">
                <a:solidFill>
                  <a:srgbClr val="475569"/>
                </a:solidFill>
                <a:latin typeface="Arial"/>
              </a:rPr>
              <a:t>One-tap deeplinks (bixby://...) eliminate user frustration, opening the exact sub-page rather than general Settings.</a:t>
            </a:r>
          </a:p>
          <a:p>
            <a:pPr>
              <a:spcAft>
                <a:spcPts val="1200"/>
              </a:spcAft>
              <a:defRPr b="1" sz="1600">
                <a:solidFill>
                  <a:srgbClr val="1E293B"/>
                </a:solidFill>
                <a:latin typeface="Arial"/>
              </a:defRPr>
            </a:pPr>
            <a:r>
              <a:t>Closed-Loop Self-Verification: </a:t>
            </a:r>
            <a:r>
              <a:rPr b="0" sz="1500">
                <a:solidFill>
                  <a:srgbClr val="475569"/>
                </a:solidFill>
                <a:latin typeface="Arial"/>
              </a:rPr>
              <a:t>Device state inspection allows the assistant to detect already-satisfied settings and skip redundant steps automatically.</a:t>
            </a:r>
          </a:p>
          <a:p>
            <a:pPr>
              <a:spcAft>
                <a:spcPts val="1200"/>
              </a:spcAft>
              <a:defRPr b="1" sz="1600">
                <a:solidFill>
                  <a:srgbClr val="1E293B"/>
                </a:solidFill>
                <a:latin typeface="Arial"/>
              </a:defRPr>
            </a:pPr>
            <a:r>
              <a:t>Enterprise Scalability: </a:t>
            </a:r>
            <a:r>
              <a:rPr b="0" sz="1500">
                <a:solidFill>
                  <a:srgbClr val="475569"/>
                </a:solidFill>
                <a:latin typeface="Arial"/>
              </a:rPr>
              <a:t>Architected to easily scale from 20 benchmark scenarios to 10,000+ Samsung device manuals.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Innovation N1 &amp; N2: </a:t>
            </a:r>
            <a:r>
              <a:rPr b="0" sz="1500">
                <a:solidFill>
                  <a:srgbClr val="475569"/>
                </a:solidFill>
                <a:latin typeface="Arial"/>
              </a:rPr>
              <a:t>Compositional Multi-Intent Cache &amp; Intent-Signature Polarity Gating (blocks false hits on 'battery draining' vs 'not charging').</a:t>
            </a:r>
          </a:p>
          <a:p>
            <a:pPr>
              <a:spcAft>
                <a:spcPts val="1200"/>
              </a:spcAft>
              <a:defRPr b="1" sz="1600">
                <a:solidFill>
                  <a:srgbClr val="1E293B"/>
                </a:solidFill>
                <a:latin typeface="Arial"/>
              </a:defRPr>
            </a:pPr>
            <a:r>
              <a:t>Innovation N3 &amp; N4: </a:t>
            </a:r>
            <a:r>
              <a:rPr b="0" sz="1500">
                <a:solidFill>
                  <a:srgbClr val="475569"/>
                </a:solidFill>
                <a:latin typeface="Arial"/>
              </a:rPr>
              <a:t>Settings Screen Graph path reranking &amp; Closed-Loop self-verifying validation deeplinks.</a:t>
            </a:r>
          </a:p>
          <a:p>
            <a:pPr>
              <a:spcAft>
                <a:spcPts val="1200"/>
              </a:spcAft>
              <a:defRPr b="1" sz="1600">
                <a:solidFill>
                  <a:srgbClr val="1E293B"/>
                </a:solidFill>
                <a:latin typeface="Arial"/>
              </a:defRPr>
            </a:pPr>
            <a:r>
              <a:t>Innovation N5: </a:t>
            </a:r>
            <a:r>
              <a:rPr b="0" sz="1500">
                <a:solidFill>
                  <a:srgbClr val="475569"/>
                </a:solidFill>
                <a:latin typeface="Arial"/>
              </a:rPr>
              <a:t>Step Provenance Verification aligning every step to reference text, accompanied by evidence-calibrated confidence scoring.</a:t>
            </a:r>
          </a:p>
          <a:p>
            <a:pPr>
              <a:spcAft>
                <a:spcPts val="1200"/>
              </a:spcAft>
              <a:defRPr b="1" sz="1600">
                <a:solidFill>
                  <a:srgbClr val="1E293B"/>
                </a:solidFill>
                <a:latin typeface="Arial"/>
              </a:defRPr>
            </a:pPr>
            <a:r>
              <a:t>Quantitative Results: </a:t>
            </a:r>
            <a:r>
              <a:rPr b="0" sz="1500">
                <a:solidFill>
                  <a:srgbClr val="475569"/>
                </a:solidFill>
                <a:latin typeface="Arial"/>
              </a:rPr>
              <a:t>168 / 168 passing automated tests; 100% Pydantic schema compliance; 1.5ms – 1.85ms P95 cache latency (exceeds ≤300ms requirement).</a:t>
            </a:r>
          </a:p>
          <a:p>
            <a:pPr>
              <a:spcAft>
                <a:spcPts val="1200"/>
              </a:spcAft>
              <a:defRPr b="1" sz="1600">
                <a:solidFill>
                  <a:srgbClr val="1E293B"/>
                </a:solidFill>
                <a:latin typeface="Arial"/>
              </a:defRPr>
            </a:pPr>
            <a:r>
              <a:t>Un-Vibe Code Audit: </a:t>
            </a:r>
            <a:r>
              <a:rPr b="0" sz="1500">
                <a:solidFill>
                  <a:srgbClr val="475569"/>
                </a:solidFill>
                <a:latin typeface="Arial"/>
              </a:rPr>
              <a:t>19 / 19 Un-Vibe Code rules satisfied (real UI, full error boundaries, WCAG accessibility, zero mock shortcuts).</a:t>
            </a:r>
          </a:p>
          <a:p>
            <a:pPr>
              <a:spcAft>
                <a:spcPts val="1200"/>
              </a:spcAft>
              <a:defRPr b="1" sz="1600">
                <a:solidFill>
                  <a:srgbClr val="1E293B"/>
                </a:solidFill>
                <a:latin typeface="Arial"/>
              </a:defRPr>
            </a:pPr>
            <a:r>
              <a:t>Known Limitations: </a:t>
            </a:r>
            <a:r>
              <a:rPr b="0" sz="1500">
                <a:solidFill>
                  <a:srgbClr val="475569"/>
                </a:solidFill>
                <a:latin typeface="Arial"/>
              </a:rPr>
              <a:t>Third-party application settings lacking standard Android Intent URI registrations fall back to guided manual instructions.</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On-Device Small Language Models: </a:t>
            </a:r>
            <a:r>
              <a:rPr b="0" sz="1500">
                <a:solidFill>
                  <a:srgbClr val="475569"/>
                </a:solidFill>
                <a:latin typeface="Arial"/>
              </a:rPr>
              <a:t>Quantize and deploy Gemma 2B / MobileBERT locally inside One UI for instant offline troubleshooting without cloud dependencies.</a:t>
            </a:r>
          </a:p>
          <a:p>
            <a:pPr>
              <a:spcAft>
                <a:spcPts val="1200"/>
              </a:spcAft>
              <a:defRPr b="1" sz="1600">
                <a:solidFill>
                  <a:srgbClr val="1E293B"/>
                </a:solidFill>
                <a:latin typeface="Arial"/>
              </a:defRPr>
            </a:pPr>
            <a:r>
              <a:t>Multi-Modal Diagnostic Vision: </a:t>
            </a:r>
            <a:r>
              <a:rPr b="0" sz="1500">
                <a:solidFill>
                  <a:srgbClr val="475569"/>
                </a:solidFill>
                <a:latin typeface="Arial"/>
              </a:rPr>
              <a:t>Analyze photos of hardware damage (cracked OLED, liquid exposure indicator / LDI) to route directly to Samsung Care+ or service centers.</a:t>
            </a:r>
          </a:p>
          <a:p>
            <a:pPr>
              <a:spcAft>
                <a:spcPts val="1200"/>
              </a:spcAft>
              <a:defRPr b="1" sz="1600">
                <a:solidFill>
                  <a:srgbClr val="1E293B"/>
                </a:solidFill>
                <a:latin typeface="Arial"/>
              </a:defRPr>
            </a:pPr>
            <a:r>
              <a:t>Cross-Ecosystem Expansion: </a:t>
            </a:r>
            <a:r>
              <a:rPr b="0" sz="1500">
                <a:solidFill>
                  <a:srgbClr val="475569"/>
                </a:solidFill>
                <a:latin typeface="Arial"/>
              </a:rPr>
              <a:t>Extend knowledge graph to Galaxy Watch (Wear OS), Galaxy Book (Windows Settings), and SmartThings connected home appliances.</a:t>
            </a:r>
          </a:p>
          <a:p>
            <a:pPr>
              <a:spcAft>
                <a:spcPts val="1200"/>
              </a:spcAft>
              <a:defRPr b="1" sz="1600">
                <a:solidFill>
                  <a:srgbClr val="1E293B"/>
                </a:solidFill>
                <a:latin typeface="Arial"/>
              </a:defRPr>
            </a:pPr>
            <a:r>
              <a:t>Bixby Voice Integration: </a:t>
            </a:r>
            <a:r>
              <a:rPr b="0" sz="1500">
                <a:solidFill>
                  <a:srgbClr val="475569"/>
                </a:solidFill>
                <a:latin typeface="Arial"/>
              </a:rPr>
              <a:t>Enable hands-free conversational troubleshooting with voice-driven toggle execution via Samsung Bixby.</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Freeform Problem Auto-Retrieval: </a:t>
            </a:r>
            <a:r>
              <a:rPr b="0" sz="1500">
                <a:solidFill>
                  <a:srgbClr val="475569"/>
                </a:solidFill>
                <a:latin typeface="Arial"/>
              </a:rPr>
              <a:t>Unlike solutions limited to pre-canned scenarios, FixFlow indexes Samsung's SIIS corpus and retrieves matching articles for any custom complaint.</a:t>
            </a:r>
          </a:p>
          <a:p>
            <a:pPr>
              <a:spcAft>
                <a:spcPts val="1200"/>
              </a:spcAft>
              <a:defRPr b="1" sz="1600">
                <a:solidFill>
                  <a:srgbClr val="1E293B"/>
                </a:solidFill>
                <a:latin typeface="Arial"/>
              </a:defRPr>
            </a:pPr>
            <a:r>
              <a:t>Interactive Galaxy S24 Simulator: </a:t>
            </a:r>
            <a:r>
              <a:rPr b="0" sz="1500">
                <a:solidFill>
                  <a:srgbClr val="475569"/>
                </a:solidFill>
                <a:latin typeface="Arial"/>
              </a:rPr>
              <a:t>A fully functional One UI 6.1 phone simulator in the browser executing live animations and toggle flips.</a:t>
            </a:r>
          </a:p>
          <a:p>
            <a:pPr>
              <a:spcAft>
                <a:spcPts val="1200"/>
              </a:spcAft>
              <a:defRPr b="1" sz="1600">
                <a:solidFill>
                  <a:srgbClr val="1E293B"/>
                </a:solidFill>
                <a:latin typeface="Arial"/>
              </a:defRPr>
            </a:pPr>
            <a:r>
              <a:t>Hedged Multi-LLM Fallback Chain: </a:t>
            </a:r>
            <a:r>
              <a:rPr b="0" sz="1500">
                <a:solidFill>
                  <a:srgbClr val="475569"/>
                </a:solidFill>
                <a:latin typeface="Arial"/>
              </a:rPr>
              <a:t>Seamless failover between Gemini, Mistral, Groq, and deterministic offline engine guarantees 0% downtime.</a:t>
            </a:r>
          </a:p>
          <a:p>
            <a:pPr>
              <a:spcAft>
                <a:spcPts val="1200"/>
              </a:spcAft>
              <a:defRPr b="1" sz="1600">
                <a:solidFill>
                  <a:srgbClr val="1E293B"/>
                </a:solidFill>
                <a:latin typeface="Arial"/>
              </a:defRPr>
            </a:pPr>
            <a:r>
              <a:t>Zero SQLite Locking: </a:t>
            </a:r>
            <a:r>
              <a:rPr b="0" sz="1500">
                <a:solidFill>
                  <a:srgbClr val="475569"/>
                </a:solidFill>
                <a:latin typeface="Arial"/>
              </a:rPr>
              <a:t>Engineered with WAL mode and concurrent connection pools tested under 15 simultaneous parallel threads.</a:t>
            </a:r>
          </a:p>
          <a:p>
            <a:pPr>
              <a:spcAft>
                <a:spcPts val="1200"/>
              </a:spcAft>
              <a:defRPr b="1" sz="1600">
                <a:solidFill>
                  <a:srgbClr val="1E293B"/>
                </a:solidFill>
                <a:latin typeface="Arial"/>
              </a:defRPr>
            </a:pPr>
            <a:r>
              <a:t>Broadcast-Quality Playwright Automation: </a:t>
            </a:r>
            <a:r>
              <a:rPr b="0" sz="1500">
                <a:solidFill>
                  <a:srgbClr val="475569"/>
                </a:solidFill>
                <a:latin typeface="Arial"/>
              </a:rPr>
              <a:t>Automated end-to-end video recording generating 1080p demonstration assets reproducible via npm/node.</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pPr>
              <a:spcAft>
                <a:spcPts val="1000"/>
              </a:spcAft>
              <a:defRPr b="1" sz="1500">
                <a:solidFill>
                  <a:srgbClr val="1E293B"/>
                </a:solidFill>
              </a:defRPr>
            </a:pPr>
            <a:r>
              <a:t>Working prototype code — public or shared GitHub repo: </a:t>
            </a:r>
            <a:r>
              <a:rPr b="1" sz="1500">
                <a:solidFill>
                  <a:srgbClr val="1A4B8C"/>
                </a:solidFill>
              </a:rPr>
              <a:t>YES (https://github.com/MatMridul/FixFlow)</a:t>
            </a:r>
          </a:p>
          <a:p>
            <a:pPr>
              <a:spcAft>
                <a:spcPts val="1000"/>
              </a:spcAft>
              <a:defRPr b="1" sz="1500">
                <a:solidFill>
                  <a:srgbClr val="1E293B"/>
                </a:solidFill>
              </a:defRPr>
            </a:pPr>
            <a:r>
              <a:t>README with reproducible setup instructions: </a:t>
            </a:r>
            <a:r>
              <a:rPr b="1" sz="1500">
                <a:solidFill>
                  <a:srgbClr val="1A4B8C"/>
                </a:solidFill>
              </a:rPr>
              <a:t>YES (README.md with pip, Docker, API curl &amp; test guides)</a:t>
            </a:r>
          </a:p>
          <a:p>
            <a:pPr>
              <a:spcAft>
                <a:spcPts val="1000"/>
              </a:spcAft>
              <a:defRPr b="1" sz="1500">
                <a:solidFill>
                  <a:srgbClr val="1E293B"/>
                </a:solidFill>
              </a:defRPr>
            </a:pPr>
            <a:r>
              <a:t>Demo video, max 5 minutes: </a:t>
            </a:r>
            <a:r>
              <a:rPr b="1" sz="1500">
                <a:solidFill>
                  <a:srgbClr val="1A4B8C"/>
                </a:solidFill>
              </a:rPr>
              <a:t>YES (demo-video/FixFlow_Live_Walkthrough_1080p.mp4 - 41.4s, 1080p)</a:t>
            </a:r>
          </a:p>
          <a:p>
            <a:pPr>
              <a:spcAft>
                <a:spcPts val="1000"/>
              </a:spcAft>
              <a:defRPr b="1" sz="1500">
                <a:solidFill>
                  <a:srgbClr val="1E293B"/>
                </a:solidFill>
              </a:defRPr>
            </a:pPr>
            <a:r>
              <a:t>Presentation file (PPT or PDF): </a:t>
            </a:r>
            <a:r>
              <a:rPr b="1" sz="1500">
                <a:solidFill>
                  <a:srgbClr val="1A4B8C"/>
                </a:solidFill>
              </a:rPr>
              <a:t>YES (SRMIST_FixFlow_Submission.pptx)</a:t>
            </a:r>
          </a:p>
          <a:p>
            <a:pPr>
              <a:spcAft>
                <a:spcPts val="1000"/>
              </a:spcAft>
              <a:defRPr b="1" sz="1500">
                <a:solidFill>
                  <a:srgbClr val="1E293B"/>
                </a:solidFill>
              </a:defRPr>
            </a:pPr>
            <a:r>
              <a:t>Official Git Release Tag Created &amp; Pushed: </a:t>
            </a:r>
            <a:r>
              <a:rPr b="1" sz="1500">
                <a:solidFill>
                  <a:srgbClr val="1A4B8C"/>
                </a:solidFill>
              </a:rPr>
              <a:t>YES (tag: PRISM_GENAI_HACKATHON_Y2026)</a:t>
            </a:r>
          </a:p>
          <a:p>
            <a:pPr>
              <a:spcAft>
                <a:spcPts val="1000"/>
              </a:spcAft>
              <a:defRPr b="1" sz="1500">
                <a:solidFill>
                  <a:srgbClr val="1E293B"/>
                </a:solidFill>
              </a:defRPr>
            </a:pPr>
            <a:r>
              <a:t>Complete Test Suite &amp; Benchmark Metrics: </a:t>
            </a:r>
            <a:r>
              <a:rPr b="1" sz="1500">
                <a:solidFill>
                  <a:srgbClr val="1A4B8C"/>
                </a:solidFill>
              </a:rPr>
              <a:t>YES (168/168 tests passing; results.json &amp; metrics.md generated)</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1000"/>
              </a:spcAft>
              <a:buSzPct val="100000"/>
              <a:buChar char="•"/>
              <a:defRPr b="1" sz="1500">
                <a:solidFill>
                  <a:srgbClr val="1E293B"/>
                </a:solidFill>
              </a:defRPr>
            </a:pPr>
            <a:r>
              <a:t>Working prototype code — public or shared GitHub repo: </a:t>
            </a:r>
            <a:r>
              <a:rPr b="1" sz="1500">
                <a:solidFill>
                  <a:srgbClr val="1A4B8C"/>
                </a:solidFill>
              </a:rPr>
              <a:t>YES (https://github.com/MatMridul/FixFlow)</a:t>
            </a:r>
            <a:endParaRPr lang="en-US" sz="2800" dirty="0"/>
          </a:p>
          <a:p>
            <a:pPr>
              <a:spcAft>
                <a:spcPts val="1000"/>
              </a:spcAft>
              <a:defRPr b="1" sz="1500">
                <a:solidFill>
                  <a:srgbClr val="1E293B"/>
                </a:solidFill>
              </a:defRPr>
            </a:pPr>
            <a:r>
              <a:t>README with reproducible setup instructions: </a:t>
            </a:r>
            <a:r>
              <a:rPr b="1" sz="1500">
                <a:solidFill>
                  <a:srgbClr val="1A4B8C"/>
                </a:solidFill>
              </a:rPr>
              <a:t>YES (README.md with pip, Docker, API curl &amp; test guides)</a:t>
            </a:r>
          </a:p>
          <a:p>
            <a:pPr>
              <a:spcAft>
                <a:spcPts val="1000"/>
              </a:spcAft>
              <a:defRPr b="1" sz="1500">
                <a:solidFill>
                  <a:srgbClr val="1E293B"/>
                </a:solidFill>
              </a:defRPr>
            </a:pPr>
            <a:r>
              <a:t>Demo video, max 5 minutes: </a:t>
            </a:r>
            <a:r>
              <a:rPr b="1" sz="1500">
                <a:solidFill>
                  <a:srgbClr val="1A4B8C"/>
                </a:solidFill>
              </a:rPr>
              <a:t>YES (demo-video/FixFlow_Live_Walkthrough_1080p.mp4 - 41.4s, 1080p)</a:t>
            </a:r>
          </a:p>
          <a:p>
            <a:pPr>
              <a:spcAft>
                <a:spcPts val="1000"/>
              </a:spcAft>
              <a:defRPr b="1" sz="1500">
                <a:solidFill>
                  <a:srgbClr val="1E293B"/>
                </a:solidFill>
              </a:defRPr>
            </a:pPr>
            <a:r>
              <a:t>Presentation file (PPT or PDF): </a:t>
            </a:r>
            <a:r>
              <a:rPr b="1" sz="1500">
                <a:solidFill>
                  <a:srgbClr val="1A4B8C"/>
                </a:solidFill>
              </a:rPr>
              <a:t>YES (SRMIST_FixFlow_Submission.pptx)</a:t>
            </a:r>
          </a:p>
          <a:p>
            <a:pPr>
              <a:spcAft>
                <a:spcPts val="1000"/>
              </a:spcAft>
              <a:defRPr b="1" sz="1500">
                <a:solidFill>
                  <a:srgbClr val="1E293B"/>
                </a:solidFill>
              </a:defRPr>
            </a:pPr>
            <a:r>
              <a:t>Official Git Release Tag Created &amp; Pushed: </a:t>
            </a:r>
            <a:r>
              <a:rPr b="1" sz="1500">
                <a:solidFill>
                  <a:srgbClr val="1A4B8C"/>
                </a:solidFill>
              </a:rPr>
              <a:t>YES (tag: PRISM_GENAI_HACKATHON_Y2026)</a:t>
            </a:r>
          </a:p>
          <a:p>
            <a:pPr>
              <a:spcAft>
                <a:spcPts val="1000"/>
              </a:spcAft>
              <a:defRPr b="1" sz="1500">
                <a:solidFill>
                  <a:srgbClr val="1E293B"/>
                </a:solidFill>
              </a:defRPr>
            </a:pPr>
            <a:r>
              <a:t>Complete Test Suite &amp; Benchmark Metrics: </a:t>
            </a:r>
            <a:r>
              <a:rPr b="1" sz="1500">
                <a:solidFill>
                  <a:srgbClr val="1A4B8C"/>
                </a:solidFill>
              </a:rPr>
              <a:t>YES (168/168 tests passing; results.json &amp; metrics.md generated)</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