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Override1.xml" ContentType="application/vnd.openxmlformats-officedocument.themeOverrid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4"/>
  </p:notesMasterIdLst>
  <p:sldIdLst>
    <p:sldId id="257" r:id="rId2"/>
    <p:sldId id="258" r:id="rId3"/>
    <p:sldId id="259" r:id="rId4"/>
    <p:sldId id="260" r:id="rId5"/>
    <p:sldId id="261" r:id="rId6"/>
    <p:sldId id="262" r:id="rId7"/>
    <p:sldId id="263" r:id="rId8"/>
    <p:sldId id="264" r:id="rId9"/>
    <p:sldId id="265" r:id="rId10"/>
    <p:sldId id="266" r:id="rId11"/>
    <p:sldId id="271" r:id="rId12"/>
    <p:sldId id="270" r:id="rId1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704EA6"/>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4995" autoAdjust="0"/>
    <p:restoredTop sz="94660"/>
  </p:normalViewPr>
  <p:slideViewPr>
    <p:cSldViewPr snapToGrid="0">
      <p:cViewPr varScale="1">
        <p:scale>
          <a:sx n="85" d="100"/>
          <a:sy n="85" d="100"/>
        </p:scale>
        <p:origin x="590" y="53"/>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notesMaster" Target="notesMasters/notesMaster1.xml"/><Relationship Id="rId15" Type="http://schemas.openxmlformats.org/officeDocument/2006/relationships/presProps" Target="presProps.xml"/><Relationship Id="rId16" Type="http://schemas.openxmlformats.org/officeDocument/2006/relationships/viewProps" Target="viewProps.xml"/><Relationship Id="rId17" Type="http://schemas.openxmlformats.org/officeDocument/2006/relationships/theme" Target="theme/theme1.xml"/><Relationship Id="rId18"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72CE9A8C-3F50-49F8-A835-316C22A1110D}" type="datetimeFigureOut">
              <a:rPr lang="en-IN" smtClean="0"/>
              <a:t>08-09-2026</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EF3343F9-2D09-4642-A3BD-5BF627A067F3}" type="slidenum">
              <a:rPr lang="en-IN" smtClean="0"/>
              <a:t>‹#›</a:t>
            </a:fld>
            <a:endParaRPr lang="en-IN"/>
          </a:p>
        </p:txBody>
      </p:sp>
    </p:spTree>
    <p:extLst>
      <p:ext uri="{BB962C8B-B14F-4D97-AF65-F5344CB8AC3E}">
        <p14:creationId xmlns:p14="http://schemas.microsoft.com/office/powerpoint/2010/main" val="56916316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Opening slide for the 3rd edition of the PRISM Generative AI Hackathon. Replace the SAMSUNG PRISM pill with the official PRISM logo image if you have the asset. Confirm the academic year label (2026-27) before circulating.</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Closing slide. Add the Google Form URL and a contact email before sharing. Edition 2 organising team for reference: Language AI - Sourabh Tiwari, Gaurav, Sanjeeth Pothireddy, Gorang Maniar; PRISM - Binny Lakra, Prakhar Chandrakar, Vishu Kumar; Kick-off and mentors - Giridhar Jakki, Deepraj Prabhakar Patkar (Language AI), Srimanu Prasad Nagaraju, Ashish Kumar (Tech Strategy).</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A2CFE64-7CE6-4299-B8FE-939866A3EB6B}"/>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09E4360C-492F-4E2E-B967-599B2BD31D70}"/>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56870CDB-78C3-4602-B35C-A826CBF20916}"/>
              </a:ext>
            </a:extLst>
          </p:cNvPr>
          <p:cNvSpPr>
            <a:spLocks noGrp="1"/>
          </p:cNvSpPr>
          <p:nvPr>
            <p:ph type="dt" sz="half" idx="10"/>
          </p:nvPr>
        </p:nvSpPr>
        <p:spPr/>
        <p:txBody>
          <a:bodyPr/>
          <a:lstStyle/>
          <a:p>
            <a:fld id="{2AF27EEE-1B67-445E-AA5D-351EC91D1DEB}" type="datetimeFigureOut">
              <a:rPr lang="en-IN" smtClean="0"/>
              <a:t>08-09-2026</a:t>
            </a:fld>
            <a:endParaRPr lang="en-IN"/>
          </a:p>
        </p:txBody>
      </p:sp>
      <p:sp>
        <p:nvSpPr>
          <p:cNvPr id="5" name="Footer Placeholder 4">
            <a:extLst>
              <a:ext uri="{FF2B5EF4-FFF2-40B4-BE49-F238E27FC236}">
                <a16:creationId xmlns:a16="http://schemas.microsoft.com/office/drawing/2014/main" id="{F585EF81-E96A-4C8D-A4F0-A9DF05C49CC6}"/>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09FA2448-68BE-42AE-8001-48ECE62DC431}"/>
              </a:ext>
            </a:extLst>
          </p:cNvPr>
          <p:cNvSpPr>
            <a:spLocks noGrp="1"/>
          </p:cNvSpPr>
          <p:nvPr>
            <p:ph type="sldNum" sz="quarter" idx="12"/>
          </p:nvPr>
        </p:nvSpPr>
        <p:spPr/>
        <p:txBody>
          <a:bodyPr/>
          <a:lstStyle/>
          <a:p>
            <a:fld id="{BF5B04A4-2082-4D7E-8466-9BA22C990A78}" type="slidenum">
              <a:rPr lang="en-IN" smtClean="0"/>
              <a:t>‹#›</a:t>
            </a:fld>
            <a:endParaRPr lang="en-IN"/>
          </a:p>
        </p:txBody>
      </p:sp>
    </p:spTree>
    <p:extLst>
      <p:ext uri="{BB962C8B-B14F-4D97-AF65-F5344CB8AC3E}">
        <p14:creationId xmlns:p14="http://schemas.microsoft.com/office/powerpoint/2010/main" val="355120668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D2C5E08-CE8A-45BE-8C3E-C04A49CC8A66}"/>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65FCCB0C-95AB-4F7A-955D-2DC18750BFD4}"/>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FE96DA85-2FDE-4136-B9F6-AF0965475E5A}"/>
              </a:ext>
            </a:extLst>
          </p:cNvPr>
          <p:cNvSpPr>
            <a:spLocks noGrp="1"/>
          </p:cNvSpPr>
          <p:nvPr>
            <p:ph type="dt" sz="half" idx="10"/>
          </p:nvPr>
        </p:nvSpPr>
        <p:spPr/>
        <p:txBody>
          <a:bodyPr/>
          <a:lstStyle/>
          <a:p>
            <a:fld id="{2AF27EEE-1B67-445E-AA5D-351EC91D1DEB}" type="datetimeFigureOut">
              <a:rPr lang="en-IN" smtClean="0"/>
              <a:t>08-09-2026</a:t>
            </a:fld>
            <a:endParaRPr lang="en-IN"/>
          </a:p>
        </p:txBody>
      </p:sp>
      <p:sp>
        <p:nvSpPr>
          <p:cNvPr id="5" name="Footer Placeholder 4">
            <a:extLst>
              <a:ext uri="{FF2B5EF4-FFF2-40B4-BE49-F238E27FC236}">
                <a16:creationId xmlns:a16="http://schemas.microsoft.com/office/drawing/2014/main" id="{299B0367-ACE7-48B9-82C8-A7BFD1F98E99}"/>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CC09A210-6017-4F71-9E78-B2C329B4A7E3}"/>
              </a:ext>
            </a:extLst>
          </p:cNvPr>
          <p:cNvSpPr>
            <a:spLocks noGrp="1"/>
          </p:cNvSpPr>
          <p:nvPr>
            <p:ph type="sldNum" sz="quarter" idx="12"/>
          </p:nvPr>
        </p:nvSpPr>
        <p:spPr/>
        <p:txBody>
          <a:bodyPr/>
          <a:lstStyle/>
          <a:p>
            <a:fld id="{BF5B04A4-2082-4D7E-8466-9BA22C990A78}" type="slidenum">
              <a:rPr lang="en-IN" smtClean="0"/>
              <a:t>‹#›</a:t>
            </a:fld>
            <a:endParaRPr lang="en-IN"/>
          </a:p>
        </p:txBody>
      </p:sp>
    </p:spTree>
    <p:extLst>
      <p:ext uri="{BB962C8B-B14F-4D97-AF65-F5344CB8AC3E}">
        <p14:creationId xmlns:p14="http://schemas.microsoft.com/office/powerpoint/2010/main" val="315812476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CAE6C5-6752-4963-B842-280808B201DB}"/>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2FEA6DFC-697D-4605-86C0-8572E022BEC1}"/>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CA341469-A18C-498E-BACC-28BCBFE904BB}"/>
              </a:ext>
            </a:extLst>
          </p:cNvPr>
          <p:cNvSpPr>
            <a:spLocks noGrp="1"/>
          </p:cNvSpPr>
          <p:nvPr>
            <p:ph type="dt" sz="half" idx="10"/>
          </p:nvPr>
        </p:nvSpPr>
        <p:spPr/>
        <p:txBody>
          <a:bodyPr/>
          <a:lstStyle/>
          <a:p>
            <a:fld id="{2AF27EEE-1B67-445E-AA5D-351EC91D1DEB}" type="datetimeFigureOut">
              <a:rPr lang="en-IN" smtClean="0"/>
              <a:t>08-09-2026</a:t>
            </a:fld>
            <a:endParaRPr lang="en-IN"/>
          </a:p>
        </p:txBody>
      </p:sp>
      <p:sp>
        <p:nvSpPr>
          <p:cNvPr id="5" name="Footer Placeholder 4">
            <a:extLst>
              <a:ext uri="{FF2B5EF4-FFF2-40B4-BE49-F238E27FC236}">
                <a16:creationId xmlns:a16="http://schemas.microsoft.com/office/drawing/2014/main" id="{FAED5D3B-1983-426F-A1AE-7470C43BB0E4}"/>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7135ABB1-45F2-4FEA-BB5A-3B053892DBC7}"/>
              </a:ext>
            </a:extLst>
          </p:cNvPr>
          <p:cNvSpPr>
            <a:spLocks noGrp="1"/>
          </p:cNvSpPr>
          <p:nvPr>
            <p:ph type="sldNum" sz="quarter" idx="12"/>
          </p:nvPr>
        </p:nvSpPr>
        <p:spPr/>
        <p:txBody>
          <a:bodyPr/>
          <a:lstStyle/>
          <a:p>
            <a:fld id="{BF5B04A4-2082-4D7E-8466-9BA22C990A78}" type="slidenum">
              <a:rPr lang="en-IN" smtClean="0"/>
              <a:t>‹#›</a:t>
            </a:fld>
            <a:endParaRPr lang="en-IN"/>
          </a:p>
        </p:txBody>
      </p:sp>
    </p:spTree>
    <p:extLst>
      <p:ext uri="{BB962C8B-B14F-4D97-AF65-F5344CB8AC3E}">
        <p14:creationId xmlns:p14="http://schemas.microsoft.com/office/powerpoint/2010/main" val="102653012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A3F4AE-F142-401B-A5D1-4A52FF92CA0A}"/>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BC7C9BD1-2876-4C52-83CF-1CBA9D931B3C}"/>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6CE624D8-76A7-478F-ACA3-5749DEFD0E0C}"/>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0F29A939-0957-4E96-B38D-0B2E39D4137F}"/>
              </a:ext>
            </a:extLst>
          </p:cNvPr>
          <p:cNvSpPr>
            <a:spLocks noGrp="1"/>
          </p:cNvSpPr>
          <p:nvPr>
            <p:ph type="dt" sz="half" idx="10"/>
          </p:nvPr>
        </p:nvSpPr>
        <p:spPr/>
        <p:txBody>
          <a:bodyPr/>
          <a:lstStyle/>
          <a:p>
            <a:fld id="{2AF27EEE-1B67-445E-AA5D-351EC91D1DEB}" type="datetimeFigureOut">
              <a:rPr lang="en-IN" smtClean="0"/>
              <a:t>08-09-2026</a:t>
            </a:fld>
            <a:endParaRPr lang="en-IN"/>
          </a:p>
        </p:txBody>
      </p:sp>
      <p:sp>
        <p:nvSpPr>
          <p:cNvPr id="6" name="Footer Placeholder 5">
            <a:extLst>
              <a:ext uri="{FF2B5EF4-FFF2-40B4-BE49-F238E27FC236}">
                <a16:creationId xmlns:a16="http://schemas.microsoft.com/office/drawing/2014/main" id="{C89D44E1-B8BA-490F-B30A-538CC4D48FFC}"/>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9184BB79-7CA5-414E-B5B6-6A8E9AEE4A94}"/>
              </a:ext>
            </a:extLst>
          </p:cNvPr>
          <p:cNvSpPr>
            <a:spLocks noGrp="1"/>
          </p:cNvSpPr>
          <p:nvPr>
            <p:ph type="sldNum" sz="quarter" idx="12"/>
          </p:nvPr>
        </p:nvSpPr>
        <p:spPr/>
        <p:txBody>
          <a:bodyPr/>
          <a:lstStyle/>
          <a:p>
            <a:fld id="{BF5B04A4-2082-4D7E-8466-9BA22C990A78}" type="slidenum">
              <a:rPr lang="en-IN" smtClean="0"/>
              <a:t>‹#›</a:t>
            </a:fld>
            <a:endParaRPr lang="en-IN"/>
          </a:p>
        </p:txBody>
      </p:sp>
    </p:spTree>
    <p:extLst>
      <p:ext uri="{BB962C8B-B14F-4D97-AF65-F5344CB8AC3E}">
        <p14:creationId xmlns:p14="http://schemas.microsoft.com/office/powerpoint/2010/main" val="27435428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B586CE8-8BA4-4FB1-ACAA-E38F8ED7F745}"/>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A2570902-F321-482A-924A-FF9A87CA5D6E}"/>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885B6F67-E437-4FE8-851B-B016F33CFE99}"/>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37CE7897-2D17-49F8-8762-68F8D5794FB6}"/>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163AE8E8-43BB-400D-8934-6D6B21D3A58E}"/>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2FDB6608-03F3-45EF-80BD-C6E305C07128}"/>
              </a:ext>
            </a:extLst>
          </p:cNvPr>
          <p:cNvSpPr>
            <a:spLocks noGrp="1"/>
          </p:cNvSpPr>
          <p:nvPr>
            <p:ph type="dt" sz="half" idx="10"/>
          </p:nvPr>
        </p:nvSpPr>
        <p:spPr/>
        <p:txBody>
          <a:bodyPr/>
          <a:lstStyle/>
          <a:p>
            <a:fld id="{2AF27EEE-1B67-445E-AA5D-351EC91D1DEB}" type="datetimeFigureOut">
              <a:rPr lang="en-IN" smtClean="0"/>
              <a:t>08-09-2026</a:t>
            </a:fld>
            <a:endParaRPr lang="en-IN"/>
          </a:p>
        </p:txBody>
      </p:sp>
      <p:sp>
        <p:nvSpPr>
          <p:cNvPr id="8" name="Footer Placeholder 7">
            <a:extLst>
              <a:ext uri="{FF2B5EF4-FFF2-40B4-BE49-F238E27FC236}">
                <a16:creationId xmlns:a16="http://schemas.microsoft.com/office/drawing/2014/main" id="{E665D75D-3AD4-4D0E-A5BC-9000973FD8E7}"/>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7706A546-DC61-467F-A112-3AC0277BB9A8}"/>
              </a:ext>
            </a:extLst>
          </p:cNvPr>
          <p:cNvSpPr>
            <a:spLocks noGrp="1"/>
          </p:cNvSpPr>
          <p:nvPr>
            <p:ph type="sldNum" sz="quarter" idx="12"/>
          </p:nvPr>
        </p:nvSpPr>
        <p:spPr/>
        <p:txBody>
          <a:bodyPr/>
          <a:lstStyle/>
          <a:p>
            <a:fld id="{BF5B04A4-2082-4D7E-8466-9BA22C990A78}" type="slidenum">
              <a:rPr lang="en-IN" smtClean="0"/>
              <a:t>‹#›</a:t>
            </a:fld>
            <a:endParaRPr lang="en-IN"/>
          </a:p>
        </p:txBody>
      </p:sp>
    </p:spTree>
    <p:extLst>
      <p:ext uri="{BB962C8B-B14F-4D97-AF65-F5344CB8AC3E}">
        <p14:creationId xmlns:p14="http://schemas.microsoft.com/office/powerpoint/2010/main" val="317166924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CC8549-E392-4F05-B762-B5370E51C922}"/>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C1059880-A67D-4A24-9138-E937AE75075F}"/>
              </a:ext>
            </a:extLst>
          </p:cNvPr>
          <p:cNvSpPr>
            <a:spLocks noGrp="1"/>
          </p:cNvSpPr>
          <p:nvPr>
            <p:ph type="dt" sz="half" idx="10"/>
          </p:nvPr>
        </p:nvSpPr>
        <p:spPr/>
        <p:txBody>
          <a:bodyPr/>
          <a:lstStyle/>
          <a:p>
            <a:fld id="{2AF27EEE-1B67-445E-AA5D-351EC91D1DEB}" type="datetimeFigureOut">
              <a:rPr lang="en-IN" smtClean="0"/>
              <a:t>08-09-2026</a:t>
            </a:fld>
            <a:endParaRPr lang="en-IN"/>
          </a:p>
        </p:txBody>
      </p:sp>
      <p:sp>
        <p:nvSpPr>
          <p:cNvPr id="4" name="Footer Placeholder 3">
            <a:extLst>
              <a:ext uri="{FF2B5EF4-FFF2-40B4-BE49-F238E27FC236}">
                <a16:creationId xmlns:a16="http://schemas.microsoft.com/office/drawing/2014/main" id="{01BF6EC7-BFAB-4137-9343-C66B7829AB57}"/>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8FA6B929-B579-4261-8171-35357AE9A33C}"/>
              </a:ext>
            </a:extLst>
          </p:cNvPr>
          <p:cNvSpPr>
            <a:spLocks noGrp="1"/>
          </p:cNvSpPr>
          <p:nvPr>
            <p:ph type="sldNum" sz="quarter" idx="12"/>
          </p:nvPr>
        </p:nvSpPr>
        <p:spPr/>
        <p:txBody>
          <a:bodyPr/>
          <a:lstStyle/>
          <a:p>
            <a:fld id="{BF5B04A4-2082-4D7E-8466-9BA22C990A78}" type="slidenum">
              <a:rPr lang="en-IN" smtClean="0"/>
              <a:t>‹#›</a:t>
            </a:fld>
            <a:endParaRPr lang="en-IN"/>
          </a:p>
        </p:txBody>
      </p:sp>
    </p:spTree>
    <p:extLst>
      <p:ext uri="{BB962C8B-B14F-4D97-AF65-F5344CB8AC3E}">
        <p14:creationId xmlns:p14="http://schemas.microsoft.com/office/powerpoint/2010/main" val="233729450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0CBAFEDF-BA35-4A7C-9388-604C048D57D0}"/>
              </a:ext>
            </a:extLst>
          </p:cNvPr>
          <p:cNvSpPr>
            <a:spLocks noGrp="1"/>
          </p:cNvSpPr>
          <p:nvPr>
            <p:ph type="dt" sz="half" idx="10"/>
          </p:nvPr>
        </p:nvSpPr>
        <p:spPr/>
        <p:txBody>
          <a:bodyPr/>
          <a:lstStyle/>
          <a:p>
            <a:fld id="{2AF27EEE-1B67-445E-AA5D-351EC91D1DEB}" type="datetimeFigureOut">
              <a:rPr lang="en-IN" smtClean="0"/>
              <a:t>08-09-2026</a:t>
            </a:fld>
            <a:endParaRPr lang="en-IN"/>
          </a:p>
        </p:txBody>
      </p:sp>
      <p:sp>
        <p:nvSpPr>
          <p:cNvPr id="3" name="Footer Placeholder 2">
            <a:extLst>
              <a:ext uri="{FF2B5EF4-FFF2-40B4-BE49-F238E27FC236}">
                <a16:creationId xmlns:a16="http://schemas.microsoft.com/office/drawing/2014/main" id="{11C80271-5700-43CC-A9BA-B2AAB47B2145}"/>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7EA712EA-BE6D-4AE5-B09E-215DE5B0EE93}"/>
              </a:ext>
            </a:extLst>
          </p:cNvPr>
          <p:cNvSpPr>
            <a:spLocks noGrp="1"/>
          </p:cNvSpPr>
          <p:nvPr>
            <p:ph type="sldNum" sz="quarter" idx="12"/>
          </p:nvPr>
        </p:nvSpPr>
        <p:spPr/>
        <p:txBody>
          <a:bodyPr/>
          <a:lstStyle/>
          <a:p>
            <a:fld id="{BF5B04A4-2082-4D7E-8466-9BA22C990A78}" type="slidenum">
              <a:rPr lang="en-IN" smtClean="0"/>
              <a:t>‹#›</a:t>
            </a:fld>
            <a:endParaRPr lang="en-IN"/>
          </a:p>
        </p:txBody>
      </p:sp>
    </p:spTree>
    <p:extLst>
      <p:ext uri="{BB962C8B-B14F-4D97-AF65-F5344CB8AC3E}">
        <p14:creationId xmlns:p14="http://schemas.microsoft.com/office/powerpoint/2010/main" val="175907212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02A6235-A416-4C23-BE8E-8FC1CF0EC17E}"/>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B4A2C36B-7DDF-4371-9F0A-6E5B64554F5E}"/>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813FA19A-E15E-47EA-B9B9-5F7FD0AA0B7C}"/>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79E84724-CA93-4332-A03F-0909AC5249AD}"/>
              </a:ext>
            </a:extLst>
          </p:cNvPr>
          <p:cNvSpPr>
            <a:spLocks noGrp="1"/>
          </p:cNvSpPr>
          <p:nvPr>
            <p:ph type="dt" sz="half" idx="10"/>
          </p:nvPr>
        </p:nvSpPr>
        <p:spPr/>
        <p:txBody>
          <a:bodyPr/>
          <a:lstStyle/>
          <a:p>
            <a:fld id="{2AF27EEE-1B67-445E-AA5D-351EC91D1DEB}" type="datetimeFigureOut">
              <a:rPr lang="en-IN" smtClean="0"/>
              <a:t>08-09-2026</a:t>
            </a:fld>
            <a:endParaRPr lang="en-IN"/>
          </a:p>
        </p:txBody>
      </p:sp>
      <p:sp>
        <p:nvSpPr>
          <p:cNvPr id="6" name="Footer Placeholder 5">
            <a:extLst>
              <a:ext uri="{FF2B5EF4-FFF2-40B4-BE49-F238E27FC236}">
                <a16:creationId xmlns:a16="http://schemas.microsoft.com/office/drawing/2014/main" id="{E403302F-D853-499A-BB91-3BD5366E6776}"/>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234AD427-BF9D-4A47-AF08-E4983B90C65A}"/>
              </a:ext>
            </a:extLst>
          </p:cNvPr>
          <p:cNvSpPr>
            <a:spLocks noGrp="1"/>
          </p:cNvSpPr>
          <p:nvPr>
            <p:ph type="sldNum" sz="quarter" idx="12"/>
          </p:nvPr>
        </p:nvSpPr>
        <p:spPr/>
        <p:txBody>
          <a:bodyPr/>
          <a:lstStyle/>
          <a:p>
            <a:fld id="{BF5B04A4-2082-4D7E-8466-9BA22C990A78}" type="slidenum">
              <a:rPr lang="en-IN" smtClean="0"/>
              <a:t>‹#›</a:t>
            </a:fld>
            <a:endParaRPr lang="en-IN"/>
          </a:p>
        </p:txBody>
      </p:sp>
    </p:spTree>
    <p:extLst>
      <p:ext uri="{BB962C8B-B14F-4D97-AF65-F5344CB8AC3E}">
        <p14:creationId xmlns:p14="http://schemas.microsoft.com/office/powerpoint/2010/main" val="404118808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3C1B540-7747-44F5-A3A4-69F051F36320}"/>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FA4392B5-0943-4B18-9708-C9FA86F83539}"/>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547DFA04-BB4C-4DC0-9831-EB32549F5EAE}"/>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B101BDBD-01E1-44D7-AB93-513FF196A2C4}"/>
              </a:ext>
            </a:extLst>
          </p:cNvPr>
          <p:cNvSpPr>
            <a:spLocks noGrp="1"/>
          </p:cNvSpPr>
          <p:nvPr>
            <p:ph type="dt" sz="half" idx="10"/>
          </p:nvPr>
        </p:nvSpPr>
        <p:spPr/>
        <p:txBody>
          <a:bodyPr/>
          <a:lstStyle/>
          <a:p>
            <a:fld id="{2AF27EEE-1B67-445E-AA5D-351EC91D1DEB}" type="datetimeFigureOut">
              <a:rPr lang="en-IN" smtClean="0"/>
              <a:t>08-09-2026</a:t>
            </a:fld>
            <a:endParaRPr lang="en-IN"/>
          </a:p>
        </p:txBody>
      </p:sp>
      <p:sp>
        <p:nvSpPr>
          <p:cNvPr id="6" name="Footer Placeholder 5">
            <a:extLst>
              <a:ext uri="{FF2B5EF4-FFF2-40B4-BE49-F238E27FC236}">
                <a16:creationId xmlns:a16="http://schemas.microsoft.com/office/drawing/2014/main" id="{D87D7BDB-9CCD-44F3-A4FB-D4BAE589BE31}"/>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7ABC8D8A-A70C-4D57-8271-DCF5EEFC33AE}"/>
              </a:ext>
            </a:extLst>
          </p:cNvPr>
          <p:cNvSpPr>
            <a:spLocks noGrp="1"/>
          </p:cNvSpPr>
          <p:nvPr>
            <p:ph type="sldNum" sz="quarter" idx="12"/>
          </p:nvPr>
        </p:nvSpPr>
        <p:spPr/>
        <p:txBody>
          <a:bodyPr/>
          <a:lstStyle/>
          <a:p>
            <a:fld id="{BF5B04A4-2082-4D7E-8466-9BA22C990A78}" type="slidenum">
              <a:rPr lang="en-IN" smtClean="0"/>
              <a:t>‹#›</a:t>
            </a:fld>
            <a:endParaRPr lang="en-IN"/>
          </a:p>
        </p:txBody>
      </p:sp>
    </p:spTree>
    <p:extLst>
      <p:ext uri="{BB962C8B-B14F-4D97-AF65-F5344CB8AC3E}">
        <p14:creationId xmlns:p14="http://schemas.microsoft.com/office/powerpoint/2010/main" val="21223624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25A63EB-C66D-4D2D-9928-25D57CFDCDD2}"/>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3D91A17B-5319-4265-82A2-5D286CFAFD86}"/>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DE972F85-7902-4426-947E-3509F7A06CB1}"/>
              </a:ext>
            </a:extLst>
          </p:cNvPr>
          <p:cNvSpPr>
            <a:spLocks noGrp="1"/>
          </p:cNvSpPr>
          <p:nvPr>
            <p:ph type="dt" sz="half" idx="10"/>
          </p:nvPr>
        </p:nvSpPr>
        <p:spPr/>
        <p:txBody>
          <a:bodyPr/>
          <a:lstStyle/>
          <a:p>
            <a:fld id="{2AF27EEE-1B67-445E-AA5D-351EC91D1DEB}" type="datetimeFigureOut">
              <a:rPr lang="en-IN" smtClean="0"/>
              <a:t>08-09-2026</a:t>
            </a:fld>
            <a:endParaRPr lang="en-IN"/>
          </a:p>
        </p:txBody>
      </p:sp>
      <p:sp>
        <p:nvSpPr>
          <p:cNvPr id="5" name="Footer Placeholder 4">
            <a:extLst>
              <a:ext uri="{FF2B5EF4-FFF2-40B4-BE49-F238E27FC236}">
                <a16:creationId xmlns:a16="http://schemas.microsoft.com/office/drawing/2014/main" id="{FD08658F-7DA3-40F3-B6FA-CF740F858EB2}"/>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DF6B0DE9-130B-4DA8-9A0C-06A295C9D82C}"/>
              </a:ext>
            </a:extLst>
          </p:cNvPr>
          <p:cNvSpPr>
            <a:spLocks noGrp="1"/>
          </p:cNvSpPr>
          <p:nvPr>
            <p:ph type="sldNum" sz="quarter" idx="12"/>
          </p:nvPr>
        </p:nvSpPr>
        <p:spPr/>
        <p:txBody>
          <a:bodyPr/>
          <a:lstStyle/>
          <a:p>
            <a:fld id="{BF5B04A4-2082-4D7E-8466-9BA22C990A78}" type="slidenum">
              <a:rPr lang="en-IN" smtClean="0"/>
              <a:t>‹#›</a:t>
            </a:fld>
            <a:endParaRPr lang="en-IN"/>
          </a:p>
        </p:txBody>
      </p:sp>
    </p:spTree>
    <p:extLst>
      <p:ext uri="{BB962C8B-B14F-4D97-AF65-F5344CB8AC3E}">
        <p14:creationId xmlns:p14="http://schemas.microsoft.com/office/powerpoint/2010/main" val="348195054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954594E2-CBC8-4A0C-A110-E3B5A301CF62}"/>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8CFBD2EA-CB7C-4CAB-855D-57F791910445}"/>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AD2348B0-3CBB-41FA-A8EC-5DFC833D7ECD}"/>
              </a:ext>
            </a:extLst>
          </p:cNvPr>
          <p:cNvSpPr>
            <a:spLocks noGrp="1"/>
          </p:cNvSpPr>
          <p:nvPr>
            <p:ph type="dt" sz="half" idx="10"/>
          </p:nvPr>
        </p:nvSpPr>
        <p:spPr/>
        <p:txBody>
          <a:bodyPr/>
          <a:lstStyle/>
          <a:p>
            <a:fld id="{2AF27EEE-1B67-445E-AA5D-351EC91D1DEB}" type="datetimeFigureOut">
              <a:rPr lang="en-IN" smtClean="0"/>
              <a:t>08-09-2026</a:t>
            </a:fld>
            <a:endParaRPr lang="en-IN"/>
          </a:p>
        </p:txBody>
      </p:sp>
      <p:sp>
        <p:nvSpPr>
          <p:cNvPr id="5" name="Footer Placeholder 4">
            <a:extLst>
              <a:ext uri="{FF2B5EF4-FFF2-40B4-BE49-F238E27FC236}">
                <a16:creationId xmlns:a16="http://schemas.microsoft.com/office/drawing/2014/main" id="{1A7E08DA-D399-4DC8-89B1-C4EBC64DC989}"/>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DFDA6177-D647-4C5F-BA43-C02A1390F473}"/>
              </a:ext>
            </a:extLst>
          </p:cNvPr>
          <p:cNvSpPr>
            <a:spLocks noGrp="1"/>
          </p:cNvSpPr>
          <p:nvPr>
            <p:ph type="sldNum" sz="quarter" idx="12"/>
          </p:nvPr>
        </p:nvSpPr>
        <p:spPr/>
        <p:txBody>
          <a:bodyPr/>
          <a:lstStyle/>
          <a:p>
            <a:fld id="{BF5B04A4-2082-4D7E-8466-9BA22C990A78}" type="slidenum">
              <a:rPr lang="en-IN" smtClean="0"/>
              <a:t>‹#›</a:t>
            </a:fld>
            <a:endParaRPr lang="en-IN"/>
          </a:p>
        </p:txBody>
      </p:sp>
    </p:spTree>
    <p:extLst>
      <p:ext uri="{BB962C8B-B14F-4D97-AF65-F5344CB8AC3E}">
        <p14:creationId xmlns:p14="http://schemas.microsoft.com/office/powerpoint/2010/main" val="814687059"/>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cSld name="DEFAULT">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2463450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0CE67A62-7E64-4BE9-8EDF-4904E871A047}"/>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F8CA73B9-1A82-4479-978C-9C873CC677B8}"/>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F9977FC6-3D78-48A7-A3DB-BFC7C0EA3E8E}"/>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2AF27EEE-1B67-445E-AA5D-351EC91D1DEB}" type="datetimeFigureOut">
              <a:rPr lang="en-IN" smtClean="0"/>
              <a:t>08-09-2026</a:t>
            </a:fld>
            <a:endParaRPr lang="en-IN"/>
          </a:p>
        </p:txBody>
      </p:sp>
      <p:sp>
        <p:nvSpPr>
          <p:cNvPr id="5" name="Footer Placeholder 4">
            <a:extLst>
              <a:ext uri="{FF2B5EF4-FFF2-40B4-BE49-F238E27FC236}">
                <a16:creationId xmlns:a16="http://schemas.microsoft.com/office/drawing/2014/main" id="{27CDC877-1137-446E-919A-C66E313317C6}"/>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a:extLst>
              <a:ext uri="{FF2B5EF4-FFF2-40B4-BE49-F238E27FC236}">
                <a16:creationId xmlns:a16="http://schemas.microsoft.com/office/drawing/2014/main" id="{8A258D39-C9B6-4DA9-9C05-38A0ECD4CE48}"/>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F5B04A4-2082-4D7E-8466-9BA22C990A78}" type="slidenum">
              <a:rPr lang="en-IN" smtClean="0"/>
              <a:t>‹#›</a:t>
            </a:fld>
            <a:endParaRPr lang="en-IN"/>
          </a:p>
        </p:txBody>
      </p:sp>
    </p:spTree>
    <p:extLst>
      <p:ext uri="{BB962C8B-B14F-4D97-AF65-F5344CB8AC3E}">
        <p14:creationId xmlns:p14="http://schemas.microsoft.com/office/powerpoint/2010/main" val="327917824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xml"/><Relationship Id="rId3"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themeOverride" Target="../theme/themeOverride1.xml"/><Relationship Id="rId2"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777240" y="676656"/>
            <a:ext cx="2423160" cy="347472"/>
          </a:xfrm>
          <a:prstGeom prst="roundRect">
            <a:avLst>
              <a:gd name="adj" fmla="val 50000"/>
            </a:avLst>
          </a:prstGeom>
          <a:solidFill>
            <a:srgbClr val="FFFFFF"/>
          </a:solidFill>
          <a:ln w="12700">
            <a:solidFill>
              <a:srgbClr val="D9D3F0"/>
            </a:solidFill>
            <a:prstDash val="solid"/>
          </a:ln>
        </p:spPr>
        <p:txBody>
          <a:bodyPr/>
          <a:p/>
        </p:txBody>
      </p:sp>
      <p:sp>
        <p:nvSpPr>
          <p:cNvPr id="3" name="Text 1"/>
          <p:cNvSpPr txBox="1"/>
          <p:nvPr/>
        </p:nvSpPr>
        <p:spPr>
          <a:xfrm>
            <a:off x="777240" y="676656"/>
            <a:ext cx="2423160" cy="347472"/>
          </a:xfrm>
          <a:prstGeom prst="rect">
            <a:avLst/>
          </a:prstGeom>
          <a:noFill/>
          <a:ln/>
        </p:spPr>
        <p:txBody>
          <a:bodyPr wrap="square" lIns="0" tIns="0" rIns="0" bIns="0" rtlCol="0" anchor="ctr"/>
          <a:lstStyle/>
          <a:p>
            <a:pPr marL="0" indent="0" algn="ctr">
              <a:buNone/>
            </a:pPr>
            <a:r>
              <a:rPr lang="en-US" sz="1100" b="1" kern="0" spc="110" dirty="0">
                <a:solidFill>
                  <a:srgbClr val="6D28D9"/>
                </a:solidFill>
                <a:latin typeface="Arial" pitchFamily="34" charset="0"/>
                <a:ea typeface="Arial" pitchFamily="34" charset="-122"/>
                <a:cs typeface="Arial" pitchFamily="34" charset="-120"/>
              </a:rPr>
              <a:t>SAMSUNG PRISM</a:t>
            </a:r>
            <a:endParaRPr lang="en-US" sz="1100" dirty="0"/>
          </a:p>
        </p:txBody>
      </p:sp>
      <p:sp>
        <p:nvSpPr>
          <p:cNvPr id="4" name="Text 2"/>
          <p:cNvSpPr txBox="1"/>
          <p:nvPr/>
        </p:nvSpPr>
        <p:spPr>
          <a:xfrm>
            <a:off x="777240" y="1207008"/>
            <a:ext cx="6126480" cy="749808"/>
          </a:xfrm>
          <a:prstGeom prst="rect">
            <a:avLst/>
          </a:prstGeom>
          <a:noFill/>
          <a:ln/>
        </p:spPr>
        <p:txBody>
          <a:bodyPr wrap="square" lIns="0" tIns="0" rIns="0" bIns="0" rtlCol="0" anchor="ctr"/>
          <a:lstStyle/>
          <a:p>
            <a:pPr marL="0" indent="0">
              <a:buNone/>
            </a:pPr>
            <a:r>
              <a:rPr lang="en-US" sz="5000" b="1" dirty="0">
                <a:solidFill>
                  <a:srgbClr val="14142B"/>
                </a:solidFill>
                <a:latin typeface="Arial" pitchFamily="34" charset="0"/>
                <a:ea typeface="Arial" pitchFamily="34" charset="-122"/>
                <a:cs typeface="Arial" pitchFamily="34" charset="-120"/>
              </a:rPr>
              <a:t>Generative AI</a:t>
            </a:r>
            <a:endParaRPr lang="en-US" sz="5000" dirty="0"/>
          </a:p>
        </p:txBody>
      </p:sp>
      <p:sp>
        <p:nvSpPr>
          <p:cNvPr id="5" name="Text 3"/>
          <p:cNvSpPr txBox="1"/>
          <p:nvPr/>
        </p:nvSpPr>
        <p:spPr>
          <a:xfrm>
            <a:off x="777240" y="1901952"/>
            <a:ext cx="6126480" cy="749808"/>
          </a:xfrm>
          <a:prstGeom prst="rect">
            <a:avLst/>
          </a:prstGeom>
          <a:noFill/>
          <a:ln/>
        </p:spPr>
        <p:txBody>
          <a:bodyPr wrap="square" lIns="0" tIns="0" rIns="0" bIns="0" rtlCol="0" anchor="ctr"/>
          <a:lstStyle/>
          <a:p>
            <a:pPr marL="0" indent="0">
              <a:buNone/>
            </a:pPr>
            <a:r>
              <a:rPr lang="en-US" sz="5000" b="1" dirty="0">
                <a:solidFill>
                  <a:srgbClr val="6D28D9"/>
                </a:solidFill>
                <a:latin typeface="Arial" pitchFamily="34" charset="0"/>
                <a:ea typeface="Arial" pitchFamily="34" charset="-122"/>
                <a:cs typeface="Arial" pitchFamily="34" charset="-120"/>
              </a:rPr>
              <a:t>Hackathon</a:t>
            </a:r>
            <a:endParaRPr lang="en-US" sz="5000" dirty="0"/>
          </a:p>
        </p:txBody>
      </p:sp>
      <p:sp>
        <p:nvSpPr>
          <p:cNvPr id="6" name="Text 4"/>
          <p:cNvSpPr txBox="1"/>
          <p:nvPr/>
        </p:nvSpPr>
        <p:spPr>
          <a:xfrm>
            <a:off x="777240" y="2724912"/>
            <a:ext cx="6126480" cy="457200"/>
          </a:xfrm>
          <a:prstGeom prst="rect">
            <a:avLst/>
          </a:prstGeom>
          <a:noFill/>
          <a:ln/>
        </p:spPr>
        <p:txBody>
          <a:bodyPr wrap="square" lIns="0" tIns="0" rIns="0" bIns="0" rtlCol="0" anchor="ctr"/>
          <a:lstStyle/>
          <a:p>
            <a:pPr marL="0" indent="0">
              <a:buNone/>
            </a:pPr>
            <a:r>
              <a:rPr lang="en-US" sz="2500" b="1" dirty="0">
                <a:solidFill>
                  <a:srgbClr val="14142B"/>
                </a:solidFill>
                <a:latin typeface="Arial" pitchFamily="34" charset="0"/>
                <a:ea typeface="Arial" pitchFamily="34" charset="-122"/>
                <a:cs typeface="Arial" pitchFamily="34" charset="-120"/>
              </a:rPr>
              <a:t>3rd Edition</a:t>
            </a:r>
            <a:r>
              <a:rPr lang="en-US" sz="2000" dirty="0">
                <a:solidFill>
                  <a:srgbClr val="63637E"/>
                </a:solidFill>
                <a:latin typeface="Calibri" pitchFamily="34" charset="0"/>
                <a:ea typeface="Calibri" pitchFamily="34" charset="-122"/>
                <a:cs typeface="Calibri" pitchFamily="34" charset="-120"/>
              </a:rPr>
              <a:t>   2026 – 27</a:t>
            </a:r>
            <a:endParaRPr lang="en-US" sz="2500" dirty="0"/>
          </a:p>
        </p:txBody>
      </p:sp>
      <p:sp>
        <p:nvSpPr>
          <p:cNvPr id="7" name="Text 5"/>
          <p:cNvSpPr txBox="1"/>
          <p:nvPr/>
        </p:nvSpPr>
        <p:spPr>
          <a:xfrm>
            <a:off x="777240" y="3310128"/>
            <a:ext cx="5852160" cy="777240"/>
          </a:xfrm>
          <a:prstGeom prst="rect">
            <a:avLst/>
          </a:prstGeom>
          <a:noFill/>
          <a:ln/>
        </p:spPr>
        <p:txBody>
          <a:bodyPr wrap="square" lIns="0" tIns="0" rIns="0" bIns="0" rtlCol="0" anchor="t"/>
          <a:lstStyle/>
          <a:p>
            <a:pPr marL="177800" indent="-177800">
              <a:spcAft>
                <a:spcPts val="600"/>
              </a:spcAft>
              <a:buSzPct val="100000"/>
              <a:buChar char="•"/>
              <a:defRPr b="1" sz="1500">
                <a:solidFill>
                  <a:srgbClr val="1E293B"/>
                </a:solidFill>
              </a:defRPr>
            </a:pPr>
            <a:r>
              <a:t>Theme ID: </a:t>
            </a:r>
            <a:r>
              <a:rPr b="0" sz="1500">
                <a:solidFill>
                  <a:srgbClr val="1A4B8C"/>
                </a:solidFill>
              </a:rPr>
              <a:t>Theme 02 — Smart Guided Troubleshooting Engine</a:t>
            </a:r>
          </a:p>
          <a:p>
            <a:pPr>
              <a:spcAft>
                <a:spcPts val="600"/>
              </a:spcAft>
              <a:defRPr b="1" sz="1500">
                <a:solidFill>
                  <a:srgbClr val="1E293B"/>
                </a:solidFill>
              </a:defRPr>
            </a:pPr>
            <a:r>
              <a:t>Project Title: </a:t>
            </a:r>
            <a:r>
              <a:rPr b="0" sz="1500">
                <a:solidFill>
                  <a:srgbClr val="1A4B8C"/>
                </a:solidFill>
              </a:rPr>
              <a:t>FixFlow — Smart Guided Troubleshooting Engine</a:t>
            </a:r>
          </a:p>
          <a:p>
            <a:pPr>
              <a:spcAft>
                <a:spcPts val="600"/>
              </a:spcAft>
              <a:defRPr b="1" sz="1500">
                <a:solidFill>
                  <a:srgbClr val="1E293B"/>
                </a:solidFill>
              </a:defRPr>
            </a:pPr>
            <a:r>
              <a:t>Team Name: </a:t>
            </a:r>
            <a:r>
              <a:rPr b="0" sz="1500">
                <a:solidFill>
                  <a:srgbClr val="1A4B8C"/>
                </a:solidFill>
              </a:rPr>
              <a:t>Claude's Plan</a:t>
            </a:r>
          </a:p>
          <a:p>
            <a:pPr>
              <a:spcAft>
                <a:spcPts val="600"/>
              </a:spcAft>
              <a:defRPr b="1" sz="1500">
                <a:solidFill>
                  <a:srgbClr val="1E293B"/>
                </a:solidFill>
              </a:defRPr>
            </a:pPr>
            <a:r>
              <a:t>Submission Code: </a:t>
            </a:r>
            <a:r>
              <a:rPr b="0" sz="1500">
                <a:solidFill>
                  <a:srgbClr val="1A4B8C"/>
                </a:solidFill>
              </a:rPr>
              <a:t>SRM_Claude's Plan_02</a:t>
            </a:r>
          </a:p>
          <a:p>
            <a:pPr>
              <a:spcAft>
                <a:spcPts val="600"/>
              </a:spcAft>
              <a:defRPr b="1" sz="1500">
                <a:solidFill>
                  <a:srgbClr val="1E293B"/>
                </a:solidFill>
              </a:defRPr>
            </a:pPr>
            <a:r>
              <a:t>College Name: </a:t>
            </a:r>
            <a:r>
              <a:rPr b="0" sz="1500">
                <a:solidFill>
                  <a:srgbClr val="1A4B8C"/>
                </a:solidFill>
              </a:rPr>
              <a:t>SRM (SRM Institute of Science and Technology)</a:t>
            </a:r>
          </a:p>
          <a:p>
            <a:pPr>
              <a:spcAft>
                <a:spcPts val="600"/>
              </a:spcAft>
              <a:defRPr b="1" sz="1500">
                <a:solidFill>
                  <a:srgbClr val="1E293B"/>
                </a:solidFill>
              </a:defRPr>
            </a:pPr>
            <a:r>
              <a:t>Team Lead &amp; Primary Member: </a:t>
            </a:r>
            <a:r>
              <a:rPr b="0" sz="1500">
                <a:solidFill>
                  <a:srgbClr val="1A4B8C"/>
                </a:solidFill>
              </a:rPr>
              <a:t>Hemish Jain (hj0012@srmist.edu.in)</a:t>
            </a:r>
          </a:p>
          <a:p>
            <a:pPr>
              <a:spcAft>
                <a:spcPts val="600"/>
              </a:spcAft>
              <a:defRPr b="1" sz="1500">
                <a:solidFill>
                  <a:srgbClr val="1E293B"/>
                </a:solidFill>
              </a:defRPr>
            </a:pPr>
            <a:r>
              <a:t>Team Member: </a:t>
            </a:r>
            <a:r>
              <a:rPr b="0" sz="1500">
                <a:solidFill>
                  <a:srgbClr val="1A4B8C"/>
                </a:solidFill>
              </a:rPr>
              <a:t>Mridul Mathur (mm4956@srmist.edu.in)</a:t>
            </a:r>
          </a:p>
          <a:p>
            <a:pPr>
              <a:spcAft>
                <a:spcPts val="600"/>
              </a:spcAft>
              <a:defRPr b="1" sz="1500">
                <a:solidFill>
                  <a:srgbClr val="1E293B"/>
                </a:solidFill>
              </a:defRPr>
            </a:pPr>
            <a:r>
              <a:t>GitHub Repo: </a:t>
            </a:r>
            <a:r>
              <a:rPr b="0" sz="1500">
                <a:solidFill>
                  <a:srgbClr val="1A4B8C"/>
                </a:solidFill>
              </a:rPr>
              <a:t>https://github.com/MatMridul/FixFlow</a:t>
            </a:r>
          </a:p>
          <a:p>
            <a:pPr>
              <a:spcAft>
                <a:spcPts val="600"/>
              </a:spcAft>
              <a:defRPr b="1" sz="1500">
                <a:solidFill>
                  <a:srgbClr val="1E293B"/>
                </a:solidFill>
              </a:defRPr>
            </a:pPr>
            <a:r>
              <a:t>Official Release Tag: </a:t>
            </a:r>
            <a:r>
              <a:rPr b="0" sz="1500">
                <a:solidFill>
                  <a:srgbClr val="1A4B8C"/>
                </a:solidFill>
              </a:rPr>
              <a:t>PRISM_GENAI_HACKATHON_Y2026</a:t>
            </a:r>
          </a:p>
        </p:txBody>
      </p:sp>
      <p:pic>
        <p:nvPicPr>
          <p:cNvPr id="14" name="Image 0" descr="hero_network.png"/>
          <p:cNvPicPr>
            <a:picLocks noChangeAspect="1"/>
          </p:cNvPicPr>
          <p:nvPr/>
        </p:nvPicPr>
        <p:blipFill>
          <a:blip r:embed="rId3"/>
          <a:stretch>
            <a:fillRect/>
          </a:stretch>
        </p:blipFill>
        <p:spPr>
          <a:xfrm>
            <a:off x="7059168" y="1051560"/>
            <a:ext cx="4572000" cy="457200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1353DB3-FB86-4452-A4FB-E7F4BEA62856}"/>
              </a:ext>
            </a:extLst>
          </p:cNvPr>
          <p:cNvSpPr>
            <a:spLocks noGrp="1"/>
          </p:cNvSpPr>
          <p:nvPr>
            <p:ph type="title"/>
          </p:nvPr>
        </p:nvSpPr>
        <p:spPr/>
        <p:txBody>
          <a:bodyPr>
            <a:normAutofit/>
          </a:bodyPr>
          <a:lstStyle/>
          <a:p>
            <a:r>
              <a:rPr lang="en-IN" b="1" dirty="0">
                <a:solidFill>
                  <a:srgbClr val="704EA6"/>
                </a:solidFill>
                <a:latin typeface="+mn-lt"/>
                <a:cs typeface="Arial" pitchFamily="34" charset="-120"/>
              </a:rPr>
              <a:t>Theme</a:t>
            </a:r>
          </a:p>
        </p:txBody>
      </p:sp>
      <p:sp>
        <p:nvSpPr>
          <p:cNvPr id="3" name="Content Placeholder 2">
            <a:extLst>
              <a:ext uri="{FF2B5EF4-FFF2-40B4-BE49-F238E27FC236}">
                <a16:creationId xmlns:a16="http://schemas.microsoft.com/office/drawing/2014/main" id="{539AB598-5650-4E46-905A-9096F4C50C3B}"/>
              </a:ext>
            </a:extLst>
          </p:cNvPr>
          <p:cNvSpPr>
            <a:spLocks noGrp="1"/>
          </p:cNvSpPr>
          <p:nvPr>
            <p:ph idx="1"/>
          </p:nvPr>
        </p:nvSpPr>
        <p:spPr/>
        <p:txBody>
          <a:bodyPr/>
          <a:lstStyle/>
          <a:p>
            <a:endParaRPr lang="en-IN"/>
          </a:p>
        </p:txBody>
      </p:sp>
      <p:sp>
        <p:nvSpPr>
          <p:cNvPr id="4" name="TextBox 3"/>
          <p:cNvSpPr txBox="1"/>
          <p:nvPr/>
        </p:nvSpPr>
        <p:spPr>
          <a:xfrm>
            <a:off x="731520" y="1645920"/>
            <a:ext cx="10058400" cy="4114800"/>
          </a:xfrm>
          <a:prstGeom prst="rect">
            <a:avLst/>
          </a:prstGeom>
          <a:noFill/>
        </p:spPr>
        <p:txBody>
          <a:bodyPr wrap="square">
            <a:spAutoFit/>
          </a:bodyPr>
          <a:lstStyle/>
          <a:p>
            <a:pPr>
              <a:spcAft>
                <a:spcPts val="1200"/>
              </a:spcAft>
              <a:defRPr b="1" sz="1600">
                <a:solidFill>
                  <a:srgbClr val="1E293B"/>
                </a:solidFill>
                <a:latin typeface="Arial"/>
              </a:defRPr>
            </a:pPr>
            <a:r>
              <a:t>Theme Focus: </a:t>
            </a:r>
            <a:r>
              <a:rPr b="0" sz="1500">
                <a:solidFill>
                  <a:srgbClr val="475569"/>
                </a:solidFill>
                <a:latin typeface="Arial"/>
              </a:rPr>
              <a:t>Theme 02 — Smart Guided Troubleshooting Engine (Samsung PRISM Hackathon 3.0).</a:t>
            </a:r>
          </a:p>
          <a:p>
            <a:pPr>
              <a:spcAft>
                <a:spcPts val="1200"/>
              </a:spcAft>
              <a:defRPr b="1" sz="1600">
                <a:solidFill>
                  <a:srgbClr val="1E293B"/>
                </a:solidFill>
                <a:latin typeface="Arial"/>
              </a:defRPr>
            </a:pPr>
            <a:r>
              <a:t>The Core Challenge: </a:t>
            </a:r>
            <a:r>
              <a:rPr b="0" sz="1500">
                <a:solidFill>
                  <a:srgbClr val="475569"/>
                </a:solidFill>
                <a:latin typeface="Arial"/>
              </a:rPr>
              <a:t>Customers describe device issues in vague, colloquial phrasing ('screen flickers and battery dies fast'). Human support spends ~15 minutes per inquiry, and users struggle to find deep Settings menus.</a:t>
            </a:r>
          </a:p>
          <a:p>
            <a:pPr>
              <a:spcAft>
                <a:spcPts val="1200"/>
              </a:spcAft>
              <a:defRPr b="1" sz="1600">
                <a:solidFill>
                  <a:srgbClr val="1E293B"/>
                </a:solidFill>
                <a:latin typeface="Arial"/>
              </a:defRPr>
            </a:pPr>
            <a:r>
              <a:t>The FixFlow Mission: </a:t>
            </a:r>
            <a:r>
              <a:rPr b="0" sz="1500">
                <a:solidFill>
                  <a:srgbClr val="475569"/>
                </a:solidFill>
                <a:latin typeface="Arial"/>
              </a:rPr>
              <a:t>Bridge colloquial user speech to exact, validated One UI 6.1 in-app Settings deeplinks through a dual-process intelligence engine.</a:t>
            </a:r>
          </a:p>
          <a:p>
            <a:pPr>
              <a:spcAft>
                <a:spcPts val="1200"/>
              </a:spcAft>
              <a:defRPr b="1" sz="1600">
                <a:solidFill>
                  <a:srgbClr val="1E293B"/>
                </a:solidFill>
                <a:latin typeface="Arial"/>
              </a:defRPr>
            </a:pPr>
            <a:r>
              <a:t>Four Core Pillars: </a:t>
            </a:r>
            <a:r>
              <a:rPr b="0" sz="1500">
                <a:solidFill>
                  <a:srgbClr val="475569"/>
                </a:solidFill>
                <a:latin typeface="Arial"/>
              </a:rPr>
              <a:t>1) Query Normalization &amp; Multi-intent segmentation; 2) Schema-constrained structured extraction; 3) Deterministic in-app deeplink resolution; 4) Sub-300ms compositional semantic caching (FixFlow achieves 1.5ms!).</a:t>
            </a:r>
          </a:p>
          <a:p>
            <a:pPr>
              <a:spcAft>
                <a:spcPts val="1200"/>
              </a:spcAft>
              <a:defRPr b="1" sz="1600">
                <a:solidFill>
                  <a:srgbClr val="1E293B"/>
                </a:solidFill>
                <a:latin typeface="Arial"/>
              </a:defRPr>
            </a:pPr>
            <a:r>
              <a:t>Scope &amp; Compliance: </a:t>
            </a:r>
            <a:r>
              <a:rPr b="0" sz="1500">
                <a:solidFill>
                  <a:srgbClr val="475569"/>
                </a:solidFill>
                <a:latin typeface="Arial"/>
              </a:rPr>
              <a:t>100% adherence to Theme 02 Pydantic response schema, supporting both single and compound multi-clause complaints.</a:t>
            </a:r>
          </a:p>
        </p:txBody>
      </p:sp>
    </p:spTree>
    <p:extLst>
      <p:ext uri="{BB962C8B-B14F-4D97-AF65-F5344CB8AC3E}">
        <p14:creationId xmlns:p14="http://schemas.microsoft.com/office/powerpoint/2010/main" val="25647885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1353DB3-FB86-4452-A4FB-E7F4BEA62856}"/>
              </a:ext>
            </a:extLst>
          </p:cNvPr>
          <p:cNvSpPr>
            <a:spLocks noGrp="1"/>
          </p:cNvSpPr>
          <p:nvPr>
            <p:ph type="title"/>
          </p:nvPr>
        </p:nvSpPr>
        <p:spPr/>
        <p:txBody>
          <a:bodyPr>
            <a:normAutofit/>
          </a:bodyPr>
          <a:lstStyle/>
          <a:p>
            <a:r>
              <a:rPr lang="en-IN" b="1" dirty="0">
                <a:solidFill>
                  <a:srgbClr val="704EA6"/>
                </a:solidFill>
                <a:latin typeface="+mn-lt"/>
                <a:cs typeface="Arial" pitchFamily="34" charset="-120"/>
              </a:rPr>
              <a:t>Existing Solutions &amp; Gaps</a:t>
            </a:r>
          </a:p>
        </p:txBody>
      </p:sp>
      <p:sp>
        <p:nvSpPr>
          <p:cNvPr id="3" name="Content Placeholder 2">
            <a:extLst>
              <a:ext uri="{FF2B5EF4-FFF2-40B4-BE49-F238E27FC236}">
                <a16:creationId xmlns:a16="http://schemas.microsoft.com/office/drawing/2014/main" id="{539AB598-5650-4E46-905A-9096F4C50C3B}"/>
              </a:ext>
            </a:extLst>
          </p:cNvPr>
          <p:cNvSpPr>
            <a:spLocks noGrp="1"/>
          </p:cNvSpPr>
          <p:nvPr>
            <p:ph idx="1"/>
          </p:nvPr>
        </p:nvSpPr>
        <p:spPr/>
        <p:txBody>
          <a:bodyPr/>
          <a:lstStyle/>
          <a:p>
            <a:endParaRPr lang="en-IN"/>
          </a:p>
        </p:txBody>
      </p:sp>
      <p:sp>
        <p:nvSpPr>
          <p:cNvPr id="4" name="TextBox 3"/>
          <p:cNvSpPr txBox="1"/>
          <p:nvPr/>
        </p:nvSpPr>
        <p:spPr>
          <a:xfrm>
            <a:off x="731520" y="1645920"/>
            <a:ext cx="10058400" cy="4114800"/>
          </a:xfrm>
          <a:prstGeom prst="rect">
            <a:avLst/>
          </a:prstGeom>
          <a:noFill/>
        </p:spPr>
        <p:txBody>
          <a:bodyPr wrap="square">
            <a:spAutoFit/>
          </a:bodyPr>
          <a:lstStyle/>
          <a:p>
            <a:pPr>
              <a:spcAft>
                <a:spcPts val="1200"/>
              </a:spcAft>
              <a:defRPr b="1" sz="1600">
                <a:solidFill>
                  <a:srgbClr val="1E293B"/>
                </a:solidFill>
                <a:latin typeface="Arial"/>
              </a:defRPr>
            </a:pPr>
            <a:r>
              <a:t>Generic LLM Chatbots: </a:t>
            </a:r>
            <a:r>
              <a:rPr b="0" sz="1500">
                <a:solidFill>
                  <a:srgbClr val="475569"/>
                </a:solidFill>
                <a:latin typeface="Arial"/>
              </a:rPr>
              <a:t>Prone to hallucinations, invent non-existent Samsung menu paths, and cannot provide executable in-app deeplinks.</a:t>
            </a:r>
          </a:p>
          <a:p>
            <a:pPr>
              <a:spcAft>
                <a:spcPts val="1200"/>
              </a:spcAft>
              <a:defRPr b="1" sz="1600">
                <a:solidFill>
                  <a:srgbClr val="1E293B"/>
                </a:solidFill>
                <a:latin typeface="Arial"/>
              </a:defRPr>
            </a:pPr>
            <a:r>
              <a:t>High Latency &amp; High Cost: </a:t>
            </a:r>
            <a:r>
              <a:rPr b="0" sz="1500">
                <a:solidFill>
                  <a:srgbClr val="475569"/>
                </a:solidFill>
                <a:latin typeface="Arial"/>
              </a:rPr>
              <a:t>Standard RAG calls full-parameter LLMs on every single repeated request, taking 3,000–8,000 ms and costing thousands in API tokens.</a:t>
            </a:r>
          </a:p>
          <a:p>
            <a:pPr>
              <a:spcAft>
                <a:spcPts val="1200"/>
              </a:spcAft>
              <a:defRPr b="1" sz="1600">
                <a:solidFill>
                  <a:srgbClr val="1E293B"/>
                </a:solidFill>
                <a:latin typeface="Arial"/>
              </a:defRPr>
            </a:pPr>
            <a:r>
              <a:t>Keyword &amp; Rule Engines: </a:t>
            </a:r>
            <a:r>
              <a:rPr b="0" sz="1500">
                <a:solidFill>
                  <a:srgbClr val="475569"/>
                </a:solidFill>
                <a:latin typeface="Arial"/>
              </a:rPr>
              <a:t>Fail on colloquial complaints, cannot detect intent polarity ('battery draining' vs 'battery not charging'), and break on compound multi-issue queries.</a:t>
            </a:r>
          </a:p>
          <a:p>
            <a:pPr>
              <a:spcAft>
                <a:spcPts val="1200"/>
              </a:spcAft>
              <a:defRPr b="1" sz="1600">
                <a:solidFill>
                  <a:srgbClr val="1E293B"/>
                </a:solidFill>
                <a:latin typeface="Arial"/>
              </a:defRPr>
            </a:pPr>
            <a:r>
              <a:t>Open-Loop Instructions: </a:t>
            </a:r>
            <a:r>
              <a:rPr b="0" sz="1500">
                <a:solidFill>
                  <a:srgbClr val="475569"/>
                </a:solidFill>
                <a:latin typeface="Arial"/>
              </a:rPr>
              <a:t>Current tools provide passive text advice. If a user already has an option enabled, they still waste time navigating to it.</a:t>
            </a:r>
          </a:p>
          <a:p>
            <a:pPr>
              <a:spcAft>
                <a:spcPts val="1200"/>
              </a:spcAft>
              <a:defRPr b="1" sz="1600">
                <a:solidFill>
                  <a:srgbClr val="1E293B"/>
                </a:solidFill>
                <a:latin typeface="Arial"/>
              </a:defRPr>
            </a:pPr>
            <a:r>
              <a:t>The FixFlow Advantage: </a:t>
            </a:r>
            <a:r>
              <a:rPr b="0" sz="1500">
                <a:solidFill>
                  <a:srgbClr val="475569"/>
                </a:solidFill>
                <a:latin typeface="Arial"/>
              </a:rPr>
              <a:t>'SIIS text decides what to do. The catalog decides where it happens. The LLM only translates between them.'</a:t>
            </a:r>
          </a:p>
        </p:txBody>
      </p:sp>
    </p:spTree>
    <p:extLst>
      <p:ext uri="{BB962C8B-B14F-4D97-AF65-F5344CB8AC3E}">
        <p14:creationId xmlns:p14="http://schemas.microsoft.com/office/powerpoint/2010/main" val="154997041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1353DB3-FB86-4452-A4FB-E7F4BEA62856}"/>
              </a:ext>
            </a:extLst>
          </p:cNvPr>
          <p:cNvSpPr>
            <a:spLocks noGrp="1"/>
          </p:cNvSpPr>
          <p:nvPr>
            <p:ph type="title"/>
          </p:nvPr>
        </p:nvSpPr>
        <p:spPr>
          <a:xfrm>
            <a:off x="909917" y="266513"/>
            <a:ext cx="10515600" cy="1325563"/>
          </a:xfrm>
        </p:spPr>
        <p:txBody>
          <a:bodyPr/>
          <a:lstStyle/>
          <a:p>
            <a:r>
              <a:rPr lang="en-IN" b="1" dirty="0">
                <a:solidFill>
                  <a:srgbClr val="704EA6"/>
                </a:solidFill>
                <a:latin typeface="+mn-lt"/>
              </a:rPr>
              <a:t>Our Solutions &amp; Architecture Diagram</a:t>
            </a:r>
          </a:p>
        </p:txBody>
      </p:sp>
      <p:sp>
        <p:nvSpPr>
          <p:cNvPr id="3" name="Content Placeholder 2">
            <a:extLst>
              <a:ext uri="{FF2B5EF4-FFF2-40B4-BE49-F238E27FC236}">
                <a16:creationId xmlns:a16="http://schemas.microsoft.com/office/drawing/2014/main" id="{539AB598-5650-4E46-905A-9096F4C50C3B}"/>
              </a:ext>
            </a:extLst>
          </p:cNvPr>
          <p:cNvSpPr>
            <a:spLocks noGrp="1"/>
          </p:cNvSpPr>
          <p:nvPr>
            <p:ph idx="1"/>
          </p:nvPr>
        </p:nvSpPr>
        <p:spPr/>
        <p:txBody>
          <a:bodyPr/>
          <a:lstStyle/>
          <a:p>
            <a:endParaRPr lang="en-IN"/>
          </a:p>
        </p:txBody>
      </p:sp>
      <p:sp>
        <p:nvSpPr>
          <p:cNvPr id="4" name="TextBox 3"/>
          <p:cNvSpPr txBox="1"/>
          <p:nvPr/>
        </p:nvSpPr>
        <p:spPr>
          <a:xfrm>
            <a:off x="731520" y="1645920"/>
            <a:ext cx="10058400" cy="4114800"/>
          </a:xfrm>
          <a:prstGeom prst="rect">
            <a:avLst/>
          </a:prstGeom>
          <a:noFill/>
        </p:spPr>
        <p:txBody>
          <a:bodyPr wrap="square">
            <a:spAutoFit/>
          </a:bodyPr>
          <a:lstStyle/>
          <a:p>
            <a:pPr>
              <a:spcAft>
                <a:spcPts val="1200"/>
              </a:spcAft>
              <a:defRPr b="1" sz="1600">
                <a:solidFill>
                  <a:srgbClr val="1E293B"/>
                </a:solidFill>
                <a:latin typeface="Arial"/>
              </a:defRPr>
            </a:pPr>
            <a:r>
              <a:t>0. Query Enrichment (N1 + N2): </a:t>
            </a:r>
            <a:r>
              <a:rPr b="0" sz="1500">
                <a:solidFill>
                  <a:srgbClr val="475569"/>
                </a:solidFill>
                <a:latin typeface="Arial"/>
              </a:rPr>
              <a:t>Decomposes compound complaints into discrete clauses and extracts discrete Intent Signatures (Domain, Component, Symptom, Polarity).</a:t>
            </a:r>
          </a:p>
          <a:p>
            <a:pPr>
              <a:spcAft>
                <a:spcPts val="1200"/>
              </a:spcAft>
              <a:defRPr b="1" sz="1600">
                <a:solidFill>
                  <a:srgbClr val="1E293B"/>
                </a:solidFill>
                <a:latin typeface="Arial"/>
              </a:defRPr>
            </a:pPr>
            <a:r>
              <a:t>1. Compositional Gated Cache (N1 + N2): </a:t>
            </a:r>
            <a:r>
              <a:rPr b="0" sz="1500">
                <a:solidFill>
                  <a:srgbClr val="475569"/>
                </a:solidFill>
                <a:latin typeface="Arial"/>
              </a:rPr>
              <a:t>Fast-path lookup. Sub-intents are resolved independently from SQLite WAL cache in ≤2 ms ($0.00 cost). Near-misses gated by polarity signatures.</a:t>
            </a:r>
          </a:p>
          <a:p>
            <a:pPr>
              <a:spcAft>
                <a:spcPts val="1200"/>
              </a:spcAft>
              <a:defRPr b="1" sz="1600">
                <a:solidFill>
                  <a:srgbClr val="1E293B"/>
                </a:solidFill>
                <a:latin typeface="Arial"/>
              </a:defRPr>
            </a:pPr>
            <a:r>
              <a:t>2. SIIS Knowledge Auto-Retriever: </a:t>
            </a:r>
            <a:r>
              <a:rPr b="0" sz="1500">
                <a:solidFill>
                  <a:srgbClr val="475569"/>
                </a:solidFill>
                <a:latin typeface="Arial"/>
              </a:rPr>
              <a:t>Hybrid BM25 + TF-IDF cosine similarity engine automatically indexes and retrieves reference Samsung SIIS troubleshooting guides for arbitrary freeform queries.</a:t>
            </a:r>
          </a:p>
          <a:p>
            <a:pPr>
              <a:spcAft>
                <a:spcPts val="1200"/>
              </a:spcAft>
              <a:defRPr b="1" sz="1600">
                <a:solidFill>
                  <a:srgbClr val="1E293B"/>
                </a:solidFill>
                <a:latin typeface="Arial"/>
              </a:defRPr>
            </a:pPr>
            <a:r>
              <a:t>3. Structure Extraction &amp; Provenance (N5): </a:t>
            </a:r>
            <a:r>
              <a:rPr b="0" sz="1500">
                <a:solidFill>
                  <a:srgbClr val="475569"/>
                </a:solidFill>
                <a:latin typeface="Arial"/>
              </a:rPr>
              <a:t>Schema-constrained LLM extraction with strict N5 provenance alignment to ensure 100% factual grounding in Samsung technical documentation.</a:t>
            </a:r>
          </a:p>
          <a:p>
            <a:pPr>
              <a:spcAft>
                <a:spcPts val="1200"/>
              </a:spcAft>
              <a:defRPr b="1" sz="1600">
                <a:solidFill>
                  <a:srgbClr val="1E293B"/>
                </a:solidFill>
                <a:latin typeface="Arial"/>
              </a:defRPr>
            </a:pPr>
            <a:r>
              <a:t>4. Settings Screen Graph Reranker (N3): </a:t>
            </a:r>
            <a:r>
              <a:rPr b="0" sz="1500">
                <a:solidFill>
                  <a:srgbClr val="475569"/>
                </a:solidFill>
                <a:latin typeface="Arial"/>
              </a:rPr>
              <a:t>Graph-theoretic path matching across One UI hierarchy, eliminating parent-menu collisions and binding exact actionable deeplinks.</a:t>
            </a:r>
          </a:p>
          <a:p>
            <a:pPr>
              <a:spcAft>
                <a:spcPts val="1200"/>
              </a:spcAft>
              <a:defRPr b="1" sz="1600">
                <a:solidFill>
                  <a:srgbClr val="1E293B"/>
                </a:solidFill>
                <a:latin typeface="Arial"/>
              </a:defRPr>
            </a:pPr>
            <a:r>
              <a:t>5. Closed-Loop Validation &amp; Repair Loop (N4): </a:t>
            </a:r>
            <a:r>
              <a:rPr b="0" sz="1500">
                <a:solidFill>
                  <a:srgbClr val="475569"/>
                </a:solidFill>
                <a:latin typeface="Arial"/>
              </a:rPr>
              <a:t>Attaches validationDeeplink to verify toggle states; deterministic repair rules enforce ordering and schema constraints.</a:t>
            </a:r>
          </a:p>
        </p:txBody>
      </p:sp>
    </p:spTree>
    <p:extLst>
      <p:ext uri="{BB962C8B-B14F-4D97-AF65-F5344CB8AC3E}">
        <p14:creationId xmlns:p14="http://schemas.microsoft.com/office/powerpoint/2010/main" val="2579789072"/>
      </p:ext>
    </p:extLst>
  </p:cSld>
  <p:clrMapOvr>
    <a:overrideClrMapping bg1="lt1" tx1="dk1" bg2="lt2" tx2="dk2" accent1="accent1" accent2="accent2" accent3="accent3" accent4="accent4" accent5="accent5" accent6="accent6" hlink="hlink" folHlink="folHlink"/>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1353DB3-FB86-4452-A4FB-E7F4BEA62856}"/>
              </a:ext>
            </a:extLst>
          </p:cNvPr>
          <p:cNvSpPr>
            <a:spLocks noGrp="1"/>
          </p:cNvSpPr>
          <p:nvPr>
            <p:ph type="title"/>
          </p:nvPr>
        </p:nvSpPr>
        <p:spPr/>
        <p:txBody>
          <a:bodyPr/>
          <a:lstStyle/>
          <a:p>
            <a:r>
              <a:rPr lang="en-IN" b="1" dirty="0">
                <a:solidFill>
                  <a:srgbClr val="704EA6"/>
                </a:solidFill>
                <a:latin typeface="+mn-lt"/>
              </a:rPr>
              <a:t>Demo &amp; Product Walkthrough</a:t>
            </a:r>
          </a:p>
        </p:txBody>
      </p:sp>
      <p:sp>
        <p:nvSpPr>
          <p:cNvPr id="3" name="Content Placeholder 2">
            <a:extLst>
              <a:ext uri="{FF2B5EF4-FFF2-40B4-BE49-F238E27FC236}">
                <a16:creationId xmlns:a16="http://schemas.microsoft.com/office/drawing/2014/main" id="{539AB598-5650-4E46-905A-9096F4C50C3B}"/>
              </a:ext>
            </a:extLst>
          </p:cNvPr>
          <p:cNvSpPr>
            <a:spLocks noGrp="1"/>
          </p:cNvSpPr>
          <p:nvPr>
            <p:ph idx="1"/>
          </p:nvPr>
        </p:nvSpPr>
        <p:spPr/>
        <p:txBody>
          <a:bodyPr/>
          <a:lstStyle/>
          <a:p>
            <a:endParaRPr lang="en-IN"/>
          </a:p>
        </p:txBody>
      </p:sp>
      <p:sp>
        <p:nvSpPr>
          <p:cNvPr id="4" name="TextBox 3"/>
          <p:cNvSpPr txBox="1"/>
          <p:nvPr/>
        </p:nvSpPr>
        <p:spPr>
          <a:xfrm>
            <a:off x="731520" y="1645920"/>
            <a:ext cx="10058400" cy="4114800"/>
          </a:xfrm>
          <a:prstGeom prst="rect">
            <a:avLst/>
          </a:prstGeom>
          <a:noFill/>
        </p:spPr>
        <p:txBody>
          <a:bodyPr wrap="square">
            <a:spAutoFit/>
          </a:bodyPr>
          <a:lstStyle/>
          <a:p>
            <a:pPr>
              <a:spcAft>
                <a:spcPts val="1200"/>
              </a:spcAft>
              <a:defRPr b="1" sz="1600">
                <a:solidFill>
                  <a:srgbClr val="1E293B"/>
                </a:solidFill>
                <a:latin typeface="Arial"/>
              </a:defRPr>
            </a:pPr>
            <a:r>
              <a:t>Interactive Web Interface: </a:t>
            </a:r>
            <a:r>
              <a:rPr b="0" sz="1500">
                <a:solidFill>
                  <a:srgbClr val="475569"/>
                </a:solidFill>
                <a:latin typeface="Arial"/>
              </a:rPr>
              <a:t>Accessible, production-grade responsive UI served directly from FastAPI at /app/ with zero build dependencies.</a:t>
            </a:r>
          </a:p>
          <a:p>
            <a:pPr>
              <a:spcAft>
                <a:spcPts val="1200"/>
              </a:spcAft>
              <a:defRPr b="1" sz="1600">
                <a:solidFill>
                  <a:srgbClr val="1E293B"/>
                </a:solidFill>
                <a:latin typeface="Arial"/>
              </a:defRPr>
            </a:pPr>
            <a:r>
              <a:t>Live Galaxy S24 Device Simulator: </a:t>
            </a:r>
            <a:r>
              <a:rPr b="0" sz="1500">
                <a:solidFill>
                  <a:srgbClr val="475569"/>
                </a:solidFill>
                <a:latin typeface="Arial"/>
              </a:rPr>
              <a:t>Simulates One UI 6.1 settings pages, animating real diagnostic toggles, verifying states, and confirming step execution.</a:t>
            </a:r>
          </a:p>
          <a:p>
            <a:pPr>
              <a:spcAft>
                <a:spcPts val="1200"/>
              </a:spcAft>
              <a:defRPr b="1" sz="1600">
                <a:solidFill>
                  <a:srgbClr val="1E293B"/>
                </a:solidFill>
                <a:latin typeface="Arial"/>
              </a:defRPr>
            </a:pPr>
            <a:r>
              <a:t>Freeform Problem Entry: </a:t>
            </a:r>
            <a:r>
              <a:rPr b="0" sz="1500">
                <a:solidFill>
                  <a:srgbClr val="475569"/>
                </a:solidFill>
                <a:latin typeface="Arial"/>
              </a:rPr>
              <a:t>Users can type ANY custom problem (e.g. 'My camera flickers and has horizontal black lines indoors'); FixFlow auto-retrieves matching guidance.</a:t>
            </a:r>
          </a:p>
          <a:p>
            <a:pPr>
              <a:spcAft>
                <a:spcPts val="1200"/>
              </a:spcAft>
              <a:defRPr b="1" sz="1600">
                <a:solidFill>
                  <a:srgbClr val="1E293B"/>
                </a:solidFill>
                <a:latin typeface="Arial"/>
              </a:defRPr>
            </a:pPr>
            <a:r>
              <a:t>Instant Sub-10ms Cache Hits: </a:t>
            </a:r>
            <a:r>
              <a:rPr b="0" sz="1500">
                <a:solidFill>
                  <a:srgbClr val="475569"/>
                </a:solidFill>
                <a:latin typeface="Arial"/>
              </a:rPr>
              <a:t>Repeat requests return in 1.5ms – 1.85ms at $0.00 cost, displaying instant visual cache-hit telemetry.</a:t>
            </a:r>
          </a:p>
          <a:p>
            <a:pPr>
              <a:spcAft>
                <a:spcPts val="1200"/>
              </a:spcAft>
              <a:defRPr b="1" sz="1600">
                <a:solidFill>
                  <a:srgbClr val="1E293B"/>
                </a:solidFill>
                <a:latin typeface="Arial"/>
              </a:defRPr>
            </a:pPr>
            <a:r>
              <a:t>Deep Pipeline Execution Trace: </a:t>
            </a:r>
            <a:r>
              <a:rPr b="0" sz="1500">
                <a:solidFill>
                  <a:srgbClr val="475569"/>
                </a:solidFill>
                <a:latin typeface="Arial"/>
              </a:rPr>
              <a:t>Inspectable accordion detailing intent decomposition, hybrid retrieval scores, and screen resolution mappings.</a:t>
            </a:r>
          </a:p>
          <a:p>
            <a:pPr>
              <a:spcAft>
                <a:spcPts val="1200"/>
              </a:spcAft>
              <a:defRPr b="1" sz="1600">
                <a:solidFill>
                  <a:srgbClr val="1E293B"/>
                </a:solidFill>
                <a:latin typeface="Arial"/>
              </a:defRPr>
            </a:pPr>
            <a:r>
              <a:t>1080p Walkthrough Video: </a:t>
            </a:r>
            <a:r>
              <a:rPr b="0" sz="1500">
                <a:solidFill>
                  <a:srgbClr val="475569"/>
                </a:solidFill>
                <a:latin typeface="Arial"/>
              </a:rPr>
              <a:t>Recorded via Playwright and included in the repository at demo-video/FixFlow_Live_Walkthrough_1080p.mp4 (41.4s, broadcast H.264).</a:t>
            </a:r>
          </a:p>
        </p:txBody>
      </p:sp>
    </p:spTree>
    <p:extLst>
      <p:ext uri="{BB962C8B-B14F-4D97-AF65-F5344CB8AC3E}">
        <p14:creationId xmlns:p14="http://schemas.microsoft.com/office/powerpoint/2010/main" val="11782449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1353DB3-FB86-4452-A4FB-E7F4BEA62856}"/>
              </a:ext>
            </a:extLst>
          </p:cNvPr>
          <p:cNvSpPr>
            <a:spLocks noGrp="1"/>
          </p:cNvSpPr>
          <p:nvPr>
            <p:ph type="title"/>
          </p:nvPr>
        </p:nvSpPr>
        <p:spPr/>
        <p:txBody>
          <a:bodyPr/>
          <a:lstStyle/>
          <a:p>
            <a:r>
              <a:rPr lang="en-US" sz="4400" b="1" dirty="0">
                <a:solidFill>
                  <a:srgbClr val="704EA6"/>
                </a:solidFill>
                <a:latin typeface="Calibri" pitchFamily="34" charset="0"/>
                <a:ea typeface="Calibri" pitchFamily="34" charset="-122"/>
                <a:cs typeface="Calibri" pitchFamily="34" charset="-120"/>
              </a:rPr>
              <a:t>Tools and tech stack used</a:t>
            </a:r>
            <a:endParaRPr lang="en-IN" b="1" dirty="0">
              <a:solidFill>
                <a:srgbClr val="704EA6"/>
              </a:solidFill>
            </a:endParaRPr>
          </a:p>
        </p:txBody>
      </p:sp>
      <p:sp>
        <p:nvSpPr>
          <p:cNvPr id="3" name="Content Placeholder 2">
            <a:extLst>
              <a:ext uri="{FF2B5EF4-FFF2-40B4-BE49-F238E27FC236}">
                <a16:creationId xmlns:a16="http://schemas.microsoft.com/office/drawing/2014/main" id="{539AB598-5650-4E46-905A-9096F4C50C3B}"/>
              </a:ext>
            </a:extLst>
          </p:cNvPr>
          <p:cNvSpPr>
            <a:spLocks noGrp="1"/>
          </p:cNvSpPr>
          <p:nvPr>
            <p:ph idx="1"/>
          </p:nvPr>
        </p:nvSpPr>
        <p:spPr/>
        <p:txBody>
          <a:bodyPr/>
          <a:lstStyle/>
          <a:p>
            <a:endParaRPr lang="en-IN" dirty="0"/>
          </a:p>
        </p:txBody>
      </p:sp>
      <p:sp>
        <p:nvSpPr>
          <p:cNvPr id="4" name="TextBox 3"/>
          <p:cNvSpPr txBox="1"/>
          <p:nvPr/>
        </p:nvSpPr>
        <p:spPr>
          <a:xfrm>
            <a:off x="731520" y="1645920"/>
            <a:ext cx="10058400" cy="4114800"/>
          </a:xfrm>
          <a:prstGeom prst="rect">
            <a:avLst/>
          </a:prstGeom>
          <a:noFill/>
        </p:spPr>
        <p:txBody>
          <a:bodyPr wrap="square">
            <a:spAutoFit/>
          </a:bodyPr>
          <a:lstStyle/>
          <a:p>
            <a:pPr>
              <a:spcAft>
                <a:spcPts val="1200"/>
              </a:spcAft>
              <a:defRPr b="1" sz="1600">
                <a:solidFill>
                  <a:srgbClr val="1E293B"/>
                </a:solidFill>
                <a:latin typeface="Arial"/>
              </a:defRPr>
            </a:pPr>
            <a:r>
              <a:t>Backend Core: </a:t>
            </a:r>
            <a:r>
              <a:rPr b="0" sz="1500">
                <a:solidFill>
                  <a:srgbClr val="475569"/>
                </a:solidFill>
                <a:latin typeface="Arial"/>
              </a:rPr>
              <a:t>Python 3.11+, FastAPI, Pydantic v2, Uvicorn ASGI server. Zero heavy framework bloat.</a:t>
            </a:r>
          </a:p>
          <a:p>
            <a:pPr>
              <a:spcAft>
                <a:spcPts val="1200"/>
              </a:spcAft>
              <a:defRPr b="1" sz="1600">
                <a:solidFill>
                  <a:srgbClr val="1E293B"/>
                </a:solidFill>
                <a:latin typeface="Arial"/>
              </a:defRPr>
            </a:pPr>
            <a:r>
              <a:t>LLM Inference Chain: </a:t>
            </a:r>
            <a:r>
              <a:rPr b="0" sz="1500">
                <a:solidFill>
                  <a:srgbClr val="475569"/>
                </a:solidFill>
                <a:latin typeface="Arial"/>
              </a:rPr>
              <a:t>Multi-model hedged resilience: Google Gemini 3.1 Flash Lite -&gt; Gemini Flash Latest -&gt; Mistral AI -&gt; Groq (7.3s hard deadline).</a:t>
            </a:r>
          </a:p>
          <a:p>
            <a:pPr>
              <a:spcAft>
                <a:spcPts val="1200"/>
              </a:spcAft>
              <a:defRPr b="1" sz="1600">
                <a:solidFill>
                  <a:srgbClr val="1E293B"/>
                </a:solidFill>
                <a:latin typeface="Arial"/>
              </a:defRPr>
            </a:pPr>
            <a:r>
              <a:t>Deterministic Fallback: </a:t>
            </a:r>
            <a:r>
              <a:rPr b="0" sz="1500">
                <a:solidFill>
                  <a:srgbClr val="475569"/>
                </a:solidFill>
                <a:latin typeface="Arial"/>
              </a:rPr>
              <a:t>High-performance offline SIIS extractor guaranteeing valid, grounded troubleshooting plans even with 0 API keys.</a:t>
            </a:r>
          </a:p>
          <a:p>
            <a:pPr>
              <a:spcAft>
                <a:spcPts val="1200"/>
              </a:spcAft>
              <a:defRPr b="1" sz="1600">
                <a:solidFill>
                  <a:srgbClr val="1E293B"/>
                </a:solidFill>
                <a:latin typeface="Arial"/>
              </a:defRPr>
            </a:pPr>
            <a:r>
              <a:t>Information Retrieval &amp; Graph: </a:t>
            </a:r>
            <a:r>
              <a:rPr b="0" sz="1500">
                <a:solidFill>
                  <a:srgbClr val="475569"/>
                </a:solidFill>
                <a:latin typeface="Arial"/>
              </a:rPr>
              <a:t>BM25Okapi, scikit-learn (TF-IDF vectorizer), NetworkX (One UI Settings Screen Graph).</a:t>
            </a:r>
          </a:p>
          <a:p>
            <a:pPr>
              <a:spcAft>
                <a:spcPts val="1200"/>
              </a:spcAft>
              <a:defRPr b="1" sz="1600">
                <a:solidFill>
                  <a:srgbClr val="1E293B"/>
                </a:solidFill>
                <a:latin typeface="Arial"/>
              </a:defRPr>
            </a:pPr>
            <a:r>
              <a:t>Storage &amp; Caching: </a:t>
            </a:r>
            <a:r>
              <a:rPr b="0" sz="1500">
                <a:solidFill>
                  <a:srgbClr val="475569"/>
                </a:solidFill>
                <a:latin typeface="Arial"/>
              </a:rPr>
              <a:t>SQLite with Write-Ahead Logging (WAL) and busy timeouts for thread-safe concurrent execution.</a:t>
            </a:r>
          </a:p>
          <a:p>
            <a:pPr>
              <a:spcAft>
                <a:spcPts val="1200"/>
              </a:spcAft>
              <a:defRPr b="1" sz="1600">
                <a:solidFill>
                  <a:srgbClr val="1E293B"/>
                </a:solidFill>
                <a:latin typeface="Arial"/>
              </a:defRPr>
            </a:pPr>
            <a:r>
              <a:t>Testing &amp; Media Pipeline: </a:t>
            </a:r>
            <a:r>
              <a:rPr b="0" sz="1500">
                <a:solidFill>
                  <a:srgbClr val="475569"/>
                </a:solidFill>
                <a:latin typeface="Arial"/>
              </a:rPr>
              <a:t>Pytest (168 tests, 100% passing), Playwright (headless browser automation), FFmpeg (H.264 1080p video transcoding).</a:t>
            </a:r>
          </a:p>
        </p:txBody>
      </p:sp>
    </p:spTree>
    <p:extLst>
      <p:ext uri="{BB962C8B-B14F-4D97-AF65-F5344CB8AC3E}">
        <p14:creationId xmlns:p14="http://schemas.microsoft.com/office/powerpoint/2010/main" val="372482880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1353DB3-FB86-4452-A4FB-E7F4BEA62856}"/>
              </a:ext>
            </a:extLst>
          </p:cNvPr>
          <p:cNvSpPr>
            <a:spLocks noGrp="1"/>
          </p:cNvSpPr>
          <p:nvPr>
            <p:ph type="title"/>
          </p:nvPr>
        </p:nvSpPr>
        <p:spPr/>
        <p:txBody>
          <a:bodyPr/>
          <a:lstStyle/>
          <a:p>
            <a:r>
              <a:rPr lang="en-US" sz="4400" b="1" dirty="0">
                <a:solidFill>
                  <a:srgbClr val="704EA6"/>
                </a:solidFill>
                <a:latin typeface="Calibri" pitchFamily="34" charset="0"/>
                <a:ea typeface="Calibri" pitchFamily="34" charset="-122"/>
                <a:cs typeface="Calibri" pitchFamily="34" charset="-120"/>
              </a:rPr>
              <a:t>Impact &amp; Use case</a:t>
            </a:r>
            <a:endParaRPr lang="en-IN" b="1" dirty="0">
              <a:solidFill>
                <a:srgbClr val="704EA6"/>
              </a:solidFill>
            </a:endParaRPr>
          </a:p>
        </p:txBody>
      </p:sp>
      <p:sp>
        <p:nvSpPr>
          <p:cNvPr id="3" name="Content Placeholder 2">
            <a:extLst>
              <a:ext uri="{FF2B5EF4-FFF2-40B4-BE49-F238E27FC236}">
                <a16:creationId xmlns:a16="http://schemas.microsoft.com/office/drawing/2014/main" id="{539AB598-5650-4E46-905A-9096F4C50C3B}"/>
              </a:ext>
            </a:extLst>
          </p:cNvPr>
          <p:cNvSpPr>
            <a:spLocks noGrp="1"/>
          </p:cNvSpPr>
          <p:nvPr>
            <p:ph idx="1"/>
          </p:nvPr>
        </p:nvSpPr>
        <p:spPr/>
        <p:txBody>
          <a:bodyPr/>
          <a:lstStyle/>
          <a:p>
            <a:endParaRPr lang="en-IN" dirty="0"/>
          </a:p>
        </p:txBody>
      </p:sp>
      <p:sp>
        <p:nvSpPr>
          <p:cNvPr id="4" name="TextBox 3"/>
          <p:cNvSpPr txBox="1"/>
          <p:nvPr/>
        </p:nvSpPr>
        <p:spPr>
          <a:xfrm>
            <a:off x="731520" y="1645920"/>
            <a:ext cx="10058400" cy="4114800"/>
          </a:xfrm>
          <a:prstGeom prst="rect">
            <a:avLst/>
          </a:prstGeom>
          <a:noFill/>
        </p:spPr>
        <p:txBody>
          <a:bodyPr wrap="square">
            <a:spAutoFit/>
          </a:bodyPr>
          <a:lstStyle/>
          <a:p>
            <a:pPr>
              <a:spcAft>
                <a:spcPts val="1200"/>
              </a:spcAft>
              <a:defRPr b="1" sz="1600">
                <a:solidFill>
                  <a:srgbClr val="1E293B"/>
                </a:solidFill>
                <a:latin typeface="Arial"/>
              </a:defRPr>
            </a:pPr>
            <a:r>
              <a:t>Customer Support Triage: </a:t>
            </a:r>
            <a:r>
              <a:rPr b="0" sz="1500">
                <a:solidFill>
                  <a:srgbClr val="475569"/>
                </a:solidFill>
                <a:latin typeface="Arial"/>
              </a:rPr>
              <a:t>Cuts support triage latency from 15 minutes to under 2 milliseconds on repeat inquiries.</a:t>
            </a:r>
          </a:p>
          <a:p>
            <a:pPr>
              <a:spcAft>
                <a:spcPts val="1200"/>
              </a:spcAft>
              <a:defRPr b="1" sz="1600">
                <a:solidFill>
                  <a:srgbClr val="1E293B"/>
                </a:solidFill>
                <a:latin typeface="Arial"/>
              </a:defRPr>
            </a:pPr>
            <a:r>
              <a:t>Dramatic Cost Reduction: </a:t>
            </a:r>
            <a:r>
              <a:rPr b="0" sz="1500">
                <a:solidFill>
                  <a:srgbClr val="475569"/>
                </a:solidFill>
                <a:latin typeface="Arial"/>
              </a:rPr>
              <a:t>Achieves 75–90% production cache hit rate, saving substantial API compute spend by serving cached plans at $0.0000 USD.</a:t>
            </a:r>
          </a:p>
          <a:p>
            <a:pPr>
              <a:spcAft>
                <a:spcPts val="1200"/>
              </a:spcAft>
              <a:defRPr b="1" sz="1600">
                <a:solidFill>
                  <a:srgbClr val="1E293B"/>
                </a:solidFill>
                <a:latin typeface="Arial"/>
              </a:defRPr>
            </a:pPr>
            <a:r>
              <a:t>Frictionless Resolution: </a:t>
            </a:r>
            <a:r>
              <a:rPr b="0" sz="1500">
                <a:solidFill>
                  <a:srgbClr val="475569"/>
                </a:solidFill>
                <a:latin typeface="Arial"/>
              </a:rPr>
              <a:t>One-tap deeplinks (bixby://...) eliminate user frustration, opening the exact sub-page rather than general Settings.</a:t>
            </a:r>
          </a:p>
          <a:p>
            <a:pPr>
              <a:spcAft>
                <a:spcPts val="1200"/>
              </a:spcAft>
              <a:defRPr b="1" sz="1600">
                <a:solidFill>
                  <a:srgbClr val="1E293B"/>
                </a:solidFill>
                <a:latin typeface="Arial"/>
              </a:defRPr>
            </a:pPr>
            <a:r>
              <a:t>Closed-Loop Self-Verification: </a:t>
            </a:r>
            <a:r>
              <a:rPr b="0" sz="1500">
                <a:solidFill>
                  <a:srgbClr val="475569"/>
                </a:solidFill>
                <a:latin typeface="Arial"/>
              </a:rPr>
              <a:t>Device state inspection allows the assistant to detect already-satisfied settings and skip redundant steps automatically.</a:t>
            </a:r>
          </a:p>
          <a:p>
            <a:pPr>
              <a:spcAft>
                <a:spcPts val="1200"/>
              </a:spcAft>
              <a:defRPr b="1" sz="1600">
                <a:solidFill>
                  <a:srgbClr val="1E293B"/>
                </a:solidFill>
                <a:latin typeface="Arial"/>
              </a:defRPr>
            </a:pPr>
            <a:r>
              <a:t>Enterprise Scalability: </a:t>
            </a:r>
            <a:r>
              <a:rPr b="0" sz="1500">
                <a:solidFill>
                  <a:srgbClr val="475569"/>
                </a:solidFill>
                <a:latin typeface="Arial"/>
              </a:rPr>
              <a:t>Architected to easily scale from 20 benchmark scenarios to 10,000+ Samsung device manuals.</a:t>
            </a:r>
          </a:p>
        </p:txBody>
      </p:sp>
    </p:spTree>
    <p:extLst>
      <p:ext uri="{BB962C8B-B14F-4D97-AF65-F5344CB8AC3E}">
        <p14:creationId xmlns:p14="http://schemas.microsoft.com/office/powerpoint/2010/main" val="366811909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1353DB3-FB86-4452-A4FB-E7F4BEA62856}"/>
              </a:ext>
            </a:extLst>
          </p:cNvPr>
          <p:cNvSpPr>
            <a:spLocks noGrp="1"/>
          </p:cNvSpPr>
          <p:nvPr>
            <p:ph type="title"/>
          </p:nvPr>
        </p:nvSpPr>
        <p:spPr/>
        <p:txBody>
          <a:bodyPr/>
          <a:lstStyle/>
          <a:p>
            <a:pPr>
              <a:spcAft>
                <a:spcPts val="500"/>
              </a:spcAft>
              <a:buSzPct val="100000"/>
            </a:pPr>
            <a:r>
              <a:rPr lang="en-US" sz="4400" b="1" dirty="0">
                <a:solidFill>
                  <a:srgbClr val="704EA6"/>
                </a:solidFill>
                <a:latin typeface="Calibri" pitchFamily="34" charset="0"/>
                <a:ea typeface="Calibri" pitchFamily="34" charset="-122"/>
                <a:cs typeface="Calibri" pitchFamily="34" charset="-120"/>
              </a:rPr>
              <a:t>Innovation highlights, results and limitations</a:t>
            </a:r>
            <a:endParaRPr lang="en-US" sz="4400" b="1" dirty="0">
              <a:solidFill>
                <a:srgbClr val="704EA6"/>
              </a:solidFill>
            </a:endParaRPr>
          </a:p>
        </p:txBody>
      </p:sp>
      <p:sp>
        <p:nvSpPr>
          <p:cNvPr id="3" name="Content Placeholder 2">
            <a:extLst>
              <a:ext uri="{FF2B5EF4-FFF2-40B4-BE49-F238E27FC236}">
                <a16:creationId xmlns:a16="http://schemas.microsoft.com/office/drawing/2014/main" id="{539AB598-5650-4E46-905A-9096F4C50C3B}"/>
              </a:ext>
            </a:extLst>
          </p:cNvPr>
          <p:cNvSpPr>
            <a:spLocks noGrp="1"/>
          </p:cNvSpPr>
          <p:nvPr>
            <p:ph idx="1"/>
          </p:nvPr>
        </p:nvSpPr>
        <p:spPr/>
        <p:txBody>
          <a:bodyPr/>
          <a:lstStyle/>
          <a:p>
            <a:endParaRPr lang="en-IN" dirty="0"/>
          </a:p>
        </p:txBody>
      </p:sp>
      <p:sp>
        <p:nvSpPr>
          <p:cNvPr id="4" name="TextBox 3"/>
          <p:cNvSpPr txBox="1"/>
          <p:nvPr/>
        </p:nvSpPr>
        <p:spPr>
          <a:xfrm>
            <a:off x="731520" y="1645920"/>
            <a:ext cx="10058400" cy="4114800"/>
          </a:xfrm>
          <a:prstGeom prst="rect">
            <a:avLst/>
          </a:prstGeom>
          <a:noFill/>
        </p:spPr>
        <p:txBody>
          <a:bodyPr wrap="square">
            <a:spAutoFit/>
          </a:bodyPr>
          <a:lstStyle/>
          <a:p>
            <a:pPr>
              <a:spcAft>
                <a:spcPts val="1200"/>
              </a:spcAft>
              <a:defRPr b="1" sz="1600">
                <a:solidFill>
                  <a:srgbClr val="1E293B"/>
                </a:solidFill>
                <a:latin typeface="Arial"/>
              </a:defRPr>
            </a:pPr>
            <a:r>
              <a:t>Innovation N1 &amp; N2: </a:t>
            </a:r>
            <a:r>
              <a:rPr b="0" sz="1500">
                <a:solidFill>
                  <a:srgbClr val="475569"/>
                </a:solidFill>
                <a:latin typeface="Arial"/>
              </a:rPr>
              <a:t>Compositional Multi-Intent Cache &amp; Intent-Signature Polarity Gating (blocks false hits on 'battery draining' vs 'not charging').</a:t>
            </a:r>
          </a:p>
          <a:p>
            <a:pPr>
              <a:spcAft>
                <a:spcPts val="1200"/>
              </a:spcAft>
              <a:defRPr b="1" sz="1600">
                <a:solidFill>
                  <a:srgbClr val="1E293B"/>
                </a:solidFill>
                <a:latin typeface="Arial"/>
              </a:defRPr>
            </a:pPr>
            <a:r>
              <a:t>Innovation N3 &amp; N4: </a:t>
            </a:r>
            <a:r>
              <a:rPr b="0" sz="1500">
                <a:solidFill>
                  <a:srgbClr val="475569"/>
                </a:solidFill>
                <a:latin typeface="Arial"/>
              </a:rPr>
              <a:t>Settings Screen Graph path reranking &amp; Closed-Loop self-verifying validation deeplinks.</a:t>
            </a:r>
          </a:p>
          <a:p>
            <a:pPr>
              <a:spcAft>
                <a:spcPts val="1200"/>
              </a:spcAft>
              <a:defRPr b="1" sz="1600">
                <a:solidFill>
                  <a:srgbClr val="1E293B"/>
                </a:solidFill>
                <a:latin typeface="Arial"/>
              </a:defRPr>
            </a:pPr>
            <a:r>
              <a:t>Innovation N5: </a:t>
            </a:r>
            <a:r>
              <a:rPr b="0" sz="1500">
                <a:solidFill>
                  <a:srgbClr val="475569"/>
                </a:solidFill>
                <a:latin typeface="Arial"/>
              </a:rPr>
              <a:t>Step Provenance Verification aligning every step to reference text, accompanied by evidence-calibrated confidence scoring.</a:t>
            </a:r>
          </a:p>
          <a:p>
            <a:pPr>
              <a:spcAft>
                <a:spcPts val="1200"/>
              </a:spcAft>
              <a:defRPr b="1" sz="1600">
                <a:solidFill>
                  <a:srgbClr val="1E293B"/>
                </a:solidFill>
                <a:latin typeface="Arial"/>
              </a:defRPr>
            </a:pPr>
            <a:r>
              <a:t>Quantitative Results: </a:t>
            </a:r>
            <a:r>
              <a:rPr b="0" sz="1500">
                <a:solidFill>
                  <a:srgbClr val="475569"/>
                </a:solidFill>
                <a:latin typeface="Arial"/>
              </a:rPr>
              <a:t>168 / 168 passing automated tests; 100% Pydantic schema compliance; 1.5ms – 1.85ms P95 cache latency (exceeds ≤300ms requirement).</a:t>
            </a:r>
          </a:p>
          <a:p>
            <a:pPr>
              <a:spcAft>
                <a:spcPts val="1200"/>
              </a:spcAft>
              <a:defRPr b="1" sz="1600">
                <a:solidFill>
                  <a:srgbClr val="1E293B"/>
                </a:solidFill>
                <a:latin typeface="Arial"/>
              </a:defRPr>
            </a:pPr>
            <a:r>
              <a:t>Un-Vibe Code Audit: </a:t>
            </a:r>
            <a:r>
              <a:rPr b="0" sz="1500">
                <a:solidFill>
                  <a:srgbClr val="475569"/>
                </a:solidFill>
                <a:latin typeface="Arial"/>
              </a:rPr>
              <a:t>19 / 19 Un-Vibe Code rules satisfied (real UI, full error boundaries, WCAG accessibility, zero mock shortcuts).</a:t>
            </a:r>
          </a:p>
          <a:p>
            <a:pPr>
              <a:spcAft>
                <a:spcPts val="1200"/>
              </a:spcAft>
              <a:defRPr b="1" sz="1600">
                <a:solidFill>
                  <a:srgbClr val="1E293B"/>
                </a:solidFill>
                <a:latin typeface="Arial"/>
              </a:defRPr>
            </a:pPr>
            <a:r>
              <a:t>Known Limitations: </a:t>
            </a:r>
            <a:r>
              <a:rPr b="0" sz="1500">
                <a:solidFill>
                  <a:srgbClr val="475569"/>
                </a:solidFill>
                <a:latin typeface="Arial"/>
              </a:rPr>
              <a:t>Third-party application settings lacking standard Android Intent URI registrations fall back to guided manual instructions.</a:t>
            </a:r>
          </a:p>
        </p:txBody>
      </p:sp>
    </p:spTree>
    <p:extLst>
      <p:ext uri="{BB962C8B-B14F-4D97-AF65-F5344CB8AC3E}">
        <p14:creationId xmlns:p14="http://schemas.microsoft.com/office/powerpoint/2010/main" val="199323702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1353DB3-FB86-4452-A4FB-E7F4BEA62856}"/>
              </a:ext>
            </a:extLst>
          </p:cNvPr>
          <p:cNvSpPr>
            <a:spLocks noGrp="1"/>
          </p:cNvSpPr>
          <p:nvPr>
            <p:ph type="title"/>
          </p:nvPr>
        </p:nvSpPr>
        <p:spPr/>
        <p:txBody>
          <a:bodyPr/>
          <a:lstStyle/>
          <a:p>
            <a:pPr>
              <a:spcAft>
                <a:spcPts val="500"/>
              </a:spcAft>
              <a:buSzPct val="100000"/>
            </a:pPr>
            <a:r>
              <a:rPr lang="en-US" sz="4400" b="1" dirty="0">
                <a:solidFill>
                  <a:srgbClr val="704EA6"/>
                </a:solidFill>
                <a:latin typeface="Calibri" pitchFamily="34" charset="0"/>
                <a:ea typeface="Calibri" pitchFamily="34" charset="-122"/>
                <a:cs typeface="Calibri" pitchFamily="34" charset="-120"/>
              </a:rPr>
              <a:t>What’s next</a:t>
            </a:r>
            <a:endParaRPr lang="en-US" sz="4400" b="1" dirty="0">
              <a:solidFill>
                <a:srgbClr val="704EA6"/>
              </a:solidFill>
            </a:endParaRPr>
          </a:p>
        </p:txBody>
      </p:sp>
      <p:sp>
        <p:nvSpPr>
          <p:cNvPr id="3" name="Content Placeholder 2">
            <a:extLst>
              <a:ext uri="{FF2B5EF4-FFF2-40B4-BE49-F238E27FC236}">
                <a16:creationId xmlns:a16="http://schemas.microsoft.com/office/drawing/2014/main" id="{539AB598-5650-4E46-905A-9096F4C50C3B}"/>
              </a:ext>
            </a:extLst>
          </p:cNvPr>
          <p:cNvSpPr>
            <a:spLocks noGrp="1"/>
          </p:cNvSpPr>
          <p:nvPr>
            <p:ph idx="1"/>
          </p:nvPr>
        </p:nvSpPr>
        <p:spPr/>
        <p:txBody>
          <a:bodyPr/>
          <a:lstStyle/>
          <a:p>
            <a:endParaRPr lang="en-IN" dirty="0"/>
          </a:p>
        </p:txBody>
      </p:sp>
      <p:sp>
        <p:nvSpPr>
          <p:cNvPr id="4" name="TextBox 3"/>
          <p:cNvSpPr txBox="1"/>
          <p:nvPr/>
        </p:nvSpPr>
        <p:spPr>
          <a:xfrm>
            <a:off x="731520" y="1645920"/>
            <a:ext cx="10058400" cy="4114800"/>
          </a:xfrm>
          <a:prstGeom prst="rect">
            <a:avLst/>
          </a:prstGeom>
          <a:noFill/>
        </p:spPr>
        <p:txBody>
          <a:bodyPr wrap="square">
            <a:spAutoFit/>
          </a:bodyPr>
          <a:lstStyle/>
          <a:p>
            <a:pPr>
              <a:spcAft>
                <a:spcPts val="1200"/>
              </a:spcAft>
              <a:defRPr b="1" sz="1600">
                <a:solidFill>
                  <a:srgbClr val="1E293B"/>
                </a:solidFill>
                <a:latin typeface="Arial"/>
              </a:defRPr>
            </a:pPr>
            <a:r>
              <a:t>On-Device Small Language Models: </a:t>
            </a:r>
            <a:r>
              <a:rPr b="0" sz="1500">
                <a:solidFill>
                  <a:srgbClr val="475569"/>
                </a:solidFill>
                <a:latin typeface="Arial"/>
              </a:rPr>
              <a:t>Quantize and deploy Gemma 2B / MobileBERT locally inside One UI for instant offline troubleshooting without cloud dependencies.</a:t>
            </a:r>
          </a:p>
          <a:p>
            <a:pPr>
              <a:spcAft>
                <a:spcPts val="1200"/>
              </a:spcAft>
              <a:defRPr b="1" sz="1600">
                <a:solidFill>
                  <a:srgbClr val="1E293B"/>
                </a:solidFill>
                <a:latin typeface="Arial"/>
              </a:defRPr>
            </a:pPr>
            <a:r>
              <a:t>Multi-Modal Diagnostic Vision: </a:t>
            </a:r>
            <a:r>
              <a:rPr b="0" sz="1500">
                <a:solidFill>
                  <a:srgbClr val="475569"/>
                </a:solidFill>
                <a:latin typeface="Arial"/>
              </a:rPr>
              <a:t>Analyze photos of hardware damage (cracked OLED, liquid exposure indicator / LDI) to route directly to Samsung Care+ or service centers.</a:t>
            </a:r>
          </a:p>
          <a:p>
            <a:pPr>
              <a:spcAft>
                <a:spcPts val="1200"/>
              </a:spcAft>
              <a:defRPr b="1" sz="1600">
                <a:solidFill>
                  <a:srgbClr val="1E293B"/>
                </a:solidFill>
                <a:latin typeface="Arial"/>
              </a:defRPr>
            </a:pPr>
            <a:r>
              <a:t>Cross-Ecosystem Expansion: </a:t>
            </a:r>
            <a:r>
              <a:rPr b="0" sz="1500">
                <a:solidFill>
                  <a:srgbClr val="475569"/>
                </a:solidFill>
                <a:latin typeface="Arial"/>
              </a:rPr>
              <a:t>Extend knowledge graph to Galaxy Watch (Wear OS), Galaxy Book (Windows Settings), and SmartThings connected home appliances.</a:t>
            </a:r>
          </a:p>
          <a:p>
            <a:pPr>
              <a:spcAft>
                <a:spcPts val="1200"/>
              </a:spcAft>
              <a:defRPr b="1" sz="1600">
                <a:solidFill>
                  <a:srgbClr val="1E293B"/>
                </a:solidFill>
                <a:latin typeface="Arial"/>
              </a:defRPr>
            </a:pPr>
            <a:r>
              <a:t>Bixby Voice Integration: </a:t>
            </a:r>
            <a:r>
              <a:rPr b="0" sz="1500">
                <a:solidFill>
                  <a:srgbClr val="475569"/>
                </a:solidFill>
                <a:latin typeface="Arial"/>
              </a:rPr>
              <a:t>Enable hands-free conversational troubleshooting with voice-driven toggle execution via Samsung Bixby.</a:t>
            </a:r>
          </a:p>
        </p:txBody>
      </p:sp>
    </p:spTree>
    <p:extLst>
      <p:ext uri="{BB962C8B-B14F-4D97-AF65-F5344CB8AC3E}">
        <p14:creationId xmlns:p14="http://schemas.microsoft.com/office/powerpoint/2010/main" val="398591468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1353DB3-FB86-4452-A4FB-E7F4BEA62856}"/>
              </a:ext>
            </a:extLst>
          </p:cNvPr>
          <p:cNvSpPr>
            <a:spLocks noGrp="1"/>
          </p:cNvSpPr>
          <p:nvPr>
            <p:ph type="title"/>
          </p:nvPr>
        </p:nvSpPr>
        <p:spPr/>
        <p:txBody>
          <a:bodyPr/>
          <a:lstStyle/>
          <a:p>
            <a:pPr>
              <a:spcAft>
                <a:spcPts val="500"/>
              </a:spcAft>
              <a:buSzPct val="100000"/>
            </a:pPr>
            <a:r>
              <a:rPr lang="en-US" sz="4400" b="1" dirty="0">
                <a:solidFill>
                  <a:srgbClr val="704EA6"/>
                </a:solidFill>
                <a:latin typeface="Calibri" pitchFamily="34" charset="0"/>
                <a:ea typeface="Calibri" pitchFamily="34" charset="-122"/>
                <a:cs typeface="Calibri" pitchFamily="34" charset="-120"/>
              </a:rPr>
              <a:t>Brownie points slide( differentiation)</a:t>
            </a:r>
            <a:endParaRPr lang="en-US" sz="4400" b="1" dirty="0">
              <a:solidFill>
                <a:srgbClr val="704EA6"/>
              </a:solidFill>
            </a:endParaRPr>
          </a:p>
        </p:txBody>
      </p:sp>
      <p:sp>
        <p:nvSpPr>
          <p:cNvPr id="3" name="Content Placeholder 2">
            <a:extLst>
              <a:ext uri="{FF2B5EF4-FFF2-40B4-BE49-F238E27FC236}">
                <a16:creationId xmlns:a16="http://schemas.microsoft.com/office/drawing/2014/main" id="{539AB598-5650-4E46-905A-9096F4C50C3B}"/>
              </a:ext>
            </a:extLst>
          </p:cNvPr>
          <p:cNvSpPr>
            <a:spLocks noGrp="1"/>
          </p:cNvSpPr>
          <p:nvPr>
            <p:ph idx="1"/>
          </p:nvPr>
        </p:nvSpPr>
        <p:spPr/>
        <p:txBody>
          <a:bodyPr/>
          <a:lstStyle/>
          <a:p>
            <a:endParaRPr lang="en-IN" dirty="0"/>
          </a:p>
        </p:txBody>
      </p:sp>
      <p:sp>
        <p:nvSpPr>
          <p:cNvPr id="4" name="TextBox 3"/>
          <p:cNvSpPr txBox="1"/>
          <p:nvPr/>
        </p:nvSpPr>
        <p:spPr>
          <a:xfrm>
            <a:off x="731520" y="1645920"/>
            <a:ext cx="10058400" cy="4114800"/>
          </a:xfrm>
          <a:prstGeom prst="rect">
            <a:avLst/>
          </a:prstGeom>
          <a:noFill/>
        </p:spPr>
        <p:txBody>
          <a:bodyPr wrap="square">
            <a:spAutoFit/>
          </a:bodyPr>
          <a:lstStyle/>
          <a:p>
            <a:pPr>
              <a:spcAft>
                <a:spcPts val="1200"/>
              </a:spcAft>
              <a:defRPr b="1" sz="1600">
                <a:solidFill>
                  <a:srgbClr val="1E293B"/>
                </a:solidFill>
                <a:latin typeface="Arial"/>
              </a:defRPr>
            </a:pPr>
            <a:r>
              <a:t>Freeform Problem Auto-Retrieval: </a:t>
            </a:r>
            <a:r>
              <a:rPr b="0" sz="1500">
                <a:solidFill>
                  <a:srgbClr val="475569"/>
                </a:solidFill>
                <a:latin typeface="Arial"/>
              </a:rPr>
              <a:t>Unlike solutions limited to pre-canned scenarios, FixFlow indexes Samsung's SIIS corpus and retrieves matching articles for any custom complaint.</a:t>
            </a:r>
          </a:p>
          <a:p>
            <a:pPr>
              <a:spcAft>
                <a:spcPts val="1200"/>
              </a:spcAft>
              <a:defRPr b="1" sz="1600">
                <a:solidFill>
                  <a:srgbClr val="1E293B"/>
                </a:solidFill>
                <a:latin typeface="Arial"/>
              </a:defRPr>
            </a:pPr>
            <a:r>
              <a:t>Interactive Galaxy S24 Simulator: </a:t>
            </a:r>
            <a:r>
              <a:rPr b="0" sz="1500">
                <a:solidFill>
                  <a:srgbClr val="475569"/>
                </a:solidFill>
                <a:latin typeface="Arial"/>
              </a:rPr>
              <a:t>A fully functional One UI 6.1 phone simulator in the browser executing live animations and toggle flips.</a:t>
            </a:r>
          </a:p>
          <a:p>
            <a:pPr>
              <a:spcAft>
                <a:spcPts val="1200"/>
              </a:spcAft>
              <a:defRPr b="1" sz="1600">
                <a:solidFill>
                  <a:srgbClr val="1E293B"/>
                </a:solidFill>
                <a:latin typeface="Arial"/>
              </a:defRPr>
            </a:pPr>
            <a:r>
              <a:t>Hedged Multi-LLM Fallback Chain: </a:t>
            </a:r>
            <a:r>
              <a:rPr b="0" sz="1500">
                <a:solidFill>
                  <a:srgbClr val="475569"/>
                </a:solidFill>
                <a:latin typeface="Arial"/>
              </a:rPr>
              <a:t>Seamless failover between Gemini, Mistral, Groq, and deterministic offline engine guarantees 0% downtime.</a:t>
            </a:r>
          </a:p>
          <a:p>
            <a:pPr>
              <a:spcAft>
                <a:spcPts val="1200"/>
              </a:spcAft>
              <a:defRPr b="1" sz="1600">
                <a:solidFill>
                  <a:srgbClr val="1E293B"/>
                </a:solidFill>
                <a:latin typeface="Arial"/>
              </a:defRPr>
            </a:pPr>
            <a:r>
              <a:t>Zero SQLite Locking: </a:t>
            </a:r>
            <a:r>
              <a:rPr b="0" sz="1500">
                <a:solidFill>
                  <a:srgbClr val="475569"/>
                </a:solidFill>
                <a:latin typeface="Arial"/>
              </a:rPr>
              <a:t>Engineered with WAL mode and concurrent connection pools tested under 15 simultaneous parallel threads.</a:t>
            </a:r>
          </a:p>
          <a:p>
            <a:pPr>
              <a:spcAft>
                <a:spcPts val="1200"/>
              </a:spcAft>
              <a:defRPr b="1" sz="1600">
                <a:solidFill>
                  <a:srgbClr val="1E293B"/>
                </a:solidFill>
                <a:latin typeface="Arial"/>
              </a:defRPr>
            </a:pPr>
            <a:r>
              <a:t>Broadcast-Quality Playwright Automation: </a:t>
            </a:r>
            <a:r>
              <a:rPr b="0" sz="1500">
                <a:solidFill>
                  <a:srgbClr val="475569"/>
                </a:solidFill>
                <a:latin typeface="Arial"/>
              </a:rPr>
              <a:t>Automated end-to-end video recording generating 1080p demonstration assets reproducible via npm/node.</a:t>
            </a:r>
          </a:p>
        </p:txBody>
      </p:sp>
    </p:spTree>
    <p:extLst>
      <p:ext uri="{BB962C8B-B14F-4D97-AF65-F5344CB8AC3E}">
        <p14:creationId xmlns:p14="http://schemas.microsoft.com/office/powerpoint/2010/main" val="209551768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F04E28A-8ABF-4E15-B9E1-B0F49C0EE29F}"/>
              </a:ext>
            </a:extLst>
          </p:cNvPr>
          <p:cNvSpPr>
            <a:spLocks noGrp="1"/>
          </p:cNvSpPr>
          <p:nvPr>
            <p:ph type="title"/>
          </p:nvPr>
        </p:nvSpPr>
        <p:spPr/>
        <p:txBody>
          <a:bodyPr/>
          <a:lstStyle/>
          <a:p>
            <a:pPr>
              <a:spcAft>
                <a:spcPts val="1000"/>
              </a:spcAft>
              <a:defRPr b="1" sz="1500">
                <a:solidFill>
                  <a:srgbClr val="1E293B"/>
                </a:solidFill>
              </a:defRPr>
            </a:pPr>
            <a:r>
              <a:t>Working prototype code — public or shared GitHub repo: </a:t>
            </a:r>
            <a:r>
              <a:rPr b="1" sz="1500">
                <a:solidFill>
                  <a:srgbClr val="1A4B8C"/>
                </a:solidFill>
              </a:rPr>
              <a:t>YES (https://github.com/MatMridul/FixFlow)</a:t>
            </a:r>
          </a:p>
          <a:p>
            <a:pPr>
              <a:spcAft>
                <a:spcPts val="1000"/>
              </a:spcAft>
              <a:defRPr b="1" sz="1500">
                <a:solidFill>
                  <a:srgbClr val="1E293B"/>
                </a:solidFill>
              </a:defRPr>
            </a:pPr>
            <a:r>
              <a:t>README with reproducible setup instructions: </a:t>
            </a:r>
            <a:r>
              <a:rPr b="1" sz="1500">
                <a:solidFill>
                  <a:srgbClr val="1A4B8C"/>
                </a:solidFill>
              </a:rPr>
              <a:t>YES (README.md with pip, Docker, API curl &amp; test guides)</a:t>
            </a:r>
          </a:p>
          <a:p>
            <a:pPr>
              <a:spcAft>
                <a:spcPts val="1000"/>
              </a:spcAft>
              <a:defRPr b="1" sz="1500">
                <a:solidFill>
                  <a:srgbClr val="1E293B"/>
                </a:solidFill>
              </a:defRPr>
            </a:pPr>
            <a:r>
              <a:t>Demo video, max 5 minutes: </a:t>
            </a:r>
            <a:r>
              <a:rPr b="1" sz="1500">
                <a:solidFill>
                  <a:srgbClr val="1A4B8C"/>
                </a:solidFill>
              </a:rPr>
              <a:t>YES (demo-video/FixFlow_Live_Walkthrough_1080p.mp4 - 41.4s, 1080p)</a:t>
            </a:r>
          </a:p>
          <a:p>
            <a:pPr>
              <a:spcAft>
                <a:spcPts val="1000"/>
              </a:spcAft>
              <a:defRPr b="1" sz="1500">
                <a:solidFill>
                  <a:srgbClr val="1E293B"/>
                </a:solidFill>
              </a:defRPr>
            </a:pPr>
            <a:r>
              <a:t>Presentation file (PPT or PDF): </a:t>
            </a:r>
            <a:r>
              <a:rPr b="1" sz="1500">
                <a:solidFill>
                  <a:srgbClr val="1A4B8C"/>
                </a:solidFill>
              </a:rPr>
              <a:t>YES (SRM_Claude's Plan_02.pptx &amp; SRM_Claudes_Plan_02.pptx)</a:t>
            </a:r>
          </a:p>
          <a:p>
            <a:pPr>
              <a:spcAft>
                <a:spcPts val="1000"/>
              </a:spcAft>
              <a:defRPr b="1" sz="1500">
                <a:solidFill>
                  <a:srgbClr val="1E293B"/>
                </a:solidFill>
              </a:defRPr>
            </a:pPr>
            <a:r>
              <a:t>Official Git Release Tag Created &amp; Pushed: </a:t>
            </a:r>
            <a:r>
              <a:rPr b="1" sz="1500">
                <a:solidFill>
                  <a:srgbClr val="1A4B8C"/>
                </a:solidFill>
              </a:rPr>
              <a:t>YES (tag: PRISM_GENAI_HACKATHON_Y2026)</a:t>
            </a:r>
          </a:p>
          <a:p>
            <a:pPr>
              <a:spcAft>
                <a:spcPts val="1000"/>
              </a:spcAft>
              <a:defRPr b="1" sz="1500">
                <a:solidFill>
                  <a:srgbClr val="1E293B"/>
                </a:solidFill>
              </a:defRPr>
            </a:pPr>
            <a:r>
              <a:t>Complete Test Suite &amp; Benchmark Metrics: </a:t>
            </a:r>
            <a:r>
              <a:rPr b="1" sz="1500">
                <a:solidFill>
                  <a:srgbClr val="1A4B8C"/>
                </a:solidFill>
              </a:rPr>
              <a:t>YES (168/168 tests passing; results.json &amp; metrics.md generated)</a:t>
            </a:r>
          </a:p>
        </p:txBody>
      </p:sp>
      <p:sp>
        <p:nvSpPr>
          <p:cNvPr id="3" name="Content Placeholder 2">
            <a:extLst>
              <a:ext uri="{FF2B5EF4-FFF2-40B4-BE49-F238E27FC236}">
                <a16:creationId xmlns:a16="http://schemas.microsoft.com/office/drawing/2014/main" id="{DAB3E6F6-9D00-4480-90E6-EC3C876F2628}"/>
              </a:ext>
            </a:extLst>
          </p:cNvPr>
          <p:cNvSpPr>
            <a:spLocks noGrp="1"/>
          </p:cNvSpPr>
          <p:nvPr>
            <p:ph idx="1"/>
          </p:nvPr>
        </p:nvSpPr>
        <p:spPr/>
        <p:txBody>
          <a:bodyPr/>
          <a:lstStyle/>
          <a:p>
            <a:pPr marL="177800" indent="-177800">
              <a:spcAft>
                <a:spcPts val="1000"/>
              </a:spcAft>
              <a:buSzPct val="100000"/>
              <a:buChar char="•"/>
              <a:defRPr b="1" sz="1500">
                <a:solidFill>
                  <a:srgbClr val="1E293B"/>
                </a:solidFill>
              </a:defRPr>
            </a:pPr>
            <a:r>
              <a:t>Working prototype code — public or shared GitHub repo: </a:t>
            </a:r>
            <a:r>
              <a:rPr b="1" sz="1500">
                <a:solidFill>
                  <a:srgbClr val="1A4B8C"/>
                </a:solidFill>
              </a:rPr>
              <a:t>YES (https://github.com/MatMridul/FixFlow)</a:t>
            </a:r>
            <a:endParaRPr lang="en-US" sz="2800" dirty="0"/>
          </a:p>
          <a:p>
            <a:pPr>
              <a:spcAft>
                <a:spcPts val="1000"/>
              </a:spcAft>
              <a:defRPr b="1" sz="1500">
                <a:solidFill>
                  <a:srgbClr val="1E293B"/>
                </a:solidFill>
              </a:defRPr>
            </a:pPr>
            <a:r>
              <a:t>README with reproducible setup instructions: </a:t>
            </a:r>
            <a:r>
              <a:rPr b="1" sz="1500">
                <a:solidFill>
                  <a:srgbClr val="1A4B8C"/>
                </a:solidFill>
              </a:rPr>
              <a:t>YES (README.md with pip, Docker, API curl &amp; test guides)</a:t>
            </a:r>
          </a:p>
          <a:p>
            <a:pPr>
              <a:spcAft>
                <a:spcPts val="1000"/>
              </a:spcAft>
              <a:defRPr b="1" sz="1500">
                <a:solidFill>
                  <a:srgbClr val="1E293B"/>
                </a:solidFill>
              </a:defRPr>
            </a:pPr>
            <a:r>
              <a:t>Demo video, max 5 minutes: </a:t>
            </a:r>
            <a:r>
              <a:rPr b="1" sz="1500">
                <a:solidFill>
                  <a:srgbClr val="1A4B8C"/>
                </a:solidFill>
              </a:rPr>
              <a:t>YES (demo-video/FixFlow_Live_Walkthrough_1080p.mp4 - 41.4s, 1080p)</a:t>
            </a:r>
          </a:p>
          <a:p>
            <a:pPr>
              <a:spcAft>
                <a:spcPts val="1000"/>
              </a:spcAft>
              <a:defRPr b="1" sz="1500">
                <a:solidFill>
                  <a:srgbClr val="1E293B"/>
                </a:solidFill>
              </a:defRPr>
            </a:pPr>
            <a:r>
              <a:t>Presentation file (PPT or PDF): </a:t>
            </a:r>
            <a:r>
              <a:rPr b="1" sz="1500">
                <a:solidFill>
                  <a:srgbClr val="1A4B8C"/>
                </a:solidFill>
              </a:rPr>
              <a:t>YES (SRM_Claude's Plan_02.pptx &amp; SRM_Claudes_Plan_02.pptx)</a:t>
            </a:r>
          </a:p>
          <a:p>
            <a:pPr>
              <a:spcAft>
                <a:spcPts val="1000"/>
              </a:spcAft>
              <a:defRPr b="1" sz="1500">
                <a:solidFill>
                  <a:srgbClr val="1E293B"/>
                </a:solidFill>
              </a:defRPr>
            </a:pPr>
            <a:r>
              <a:t>Official Git Release Tag Created &amp; Pushed: </a:t>
            </a:r>
            <a:r>
              <a:rPr b="1" sz="1500">
                <a:solidFill>
                  <a:srgbClr val="1A4B8C"/>
                </a:solidFill>
              </a:rPr>
              <a:t>YES (tag: PRISM_GENAI_HACKATHON_Y2026)</a:t>
            </a:r>
          </a:p>
          <a:p>
            <a:pPr>
              <a:spcAft>
                <a:spcPts val="1000"/>
              </a:spcAft>
              <a:defRPr b="1" sz="1500">
                <a:solidFill>
                  <a:srgbClr val="1E293B"/>
                </a:solidFill>
              </a:defRPr>
            </a:pPr>
            <a:r>
              <a:t>Complete Test Suite &amp; Benchmark Metrics: </a:t>
            </a:r>
            <a:r>
              <a:rPr b="1" sz="1500">
                <a:solidFill>
                  <a:srgbClr val="1A4B8C"/>
                </a:solidFill>
              </a:rPr>
              <a:t>YES (168/168 tests passing; results.json &amp; metrics.md generated)</a:t>
            </a:r>
          </a:p>
        </p:txBody>
      </p:sp>
    </p:spTree>
    <p:extLst>
      <p:ext uri="{BB962C8B-B14F-4D97-AF65-F5344CB8AC3E}">
        <p14:creationId xmlns:p14="http://schemas.microsoft.com/office/powerpoint/2010/main" val="18069930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txBox="1"/>
          <p:nvPr/>
        </p:nvSpPr>
        <p:spPr>
          <a:xfrm>
            <a:off x="1046181" y="3730214"/>
            <a:ext cx="6766560" cy="868680"/>
          </a:xfrm>
          <a:prstGeom prst="rect">
            <a:avLst/>
          </a:prstGeom>
          <a:noFill/>
          <a:ln/>
        </p:spPr>
        <p:txBody>
          <a:bodyPr wrap="square" lIns="0" tIns="0" rIns="0" bIns="0" rtlCol="0" anchor="ctr"/>
          <a:lstStyle/>
          <a:p>
            <a:pPr marL="0" indent="0">
              <a:buNone/>
            </a:pPr>
            <a:r>
              <a:rPr lang="en-US" sz="4600" b="1" dirty="0">
                <a:solidFill>
                  <a:srgbClr val="14142B"/>
                </a:solidFill>
                <a:latin typeface="Arial" pitchFamily="34" charset="0"/>
                <a:ea typeface="Arial" pitchFamily="34" charset="-122"/>
                <a:cs typeface="Arial" pitchFamily="34" charset="-120"/>
              </a:rPr>
              <a:t>Thank you</a:t>
            </a:r>
            <a:endParaRPr lang="en-US" sz="4600" dirty="0"/>
          </a:p>
        </p:txBody>
      </p:sp>
      <p:sp>
        <p:nvSpPr>
          <p:cNvPr id="28" name="Text 25"/>
          <p:cNvSpPr txBox="1"/>
          <p:nvPr/>
        </p:nvSpPr>
        <p:spPr>
          <a:xfrm>
            <a:off x="777240" y="5897880"/>
            <a:ext cx="10607040" cy="292608"/>
          </a:xfrm>
          <a:prstGeom prst="rect">
            <a:avLst/>
          </a:prstGeom>
          <a:noFill/>
          <a:ln/>
        </p:spPr>
        <p:txBody>
          <a:bodyPr wrap="square" lIns="0" tIns="0" rIns="0" bIns="0" rtlCol="0" anchor="ctr"/>
          <a:lstStyle/>
          <a:p>
            <a:pPr marL="0" indent="0">
              <a:buNone/>
            </a:pPr>
            <a:r>
              <a:rPr lang="en-US" sz="1100" dirty="0">
                <a:solidFill>
                  <a:srgbClr val="63637E"/>
                </a:solidFill>
                <a:latin typeface="Calibri" pitchFamily="34" charset="0"/>
                <a:ea typeface="Calibri" pitchFamily="34" charset="-122"/>
                <a:cs typeface="Calibri" pitchFamily="34" charset="-120"/>
              </a:rPr>
              <a:t>Organised by the Language AI Team and the PRISM Team, Samsung R&amp;D Institute India</a:t>
            </a:r>
            <a:endParaRPr lang="en-US" sz="11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Override1.xml><?xml version="1.0" encoding="utf-8"?>
<a:themeOverride xmlns:a="http://schemas.openxmlformats.org/drawingml/2006/main">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themeOverride>
</file>

<file path=docProps/app.xml><?xml version="1.0" encoding="utf-8"?>
<Properties xmlns="http://schemas.openxmlformats.org/officeDocument/2006/extended-properties" xmlns:vt="http://schemas.openxmlformats.org/officeDocument/2006/docPropsVTypes">
  <Template/>
  <TotalTime>65</TotalTime>
  <Words>266</Words>
  <Application>Microsoft Office PowerPoint</Application>
  <PresentationFormat>Widescreen</PresentationFormat>
  <Paragraphs>32</Paragraphs>
  <Slides>12</Slides>
  <Notes>2</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12</vt:i4>
      </vt:variant>
    </vt:vector>
  </HeadingPairs>
  <TitlesOfParts>
    <vt:vector size="16" baseType="lpstr">
      <vt:lpstr>Arial</vt:lpstr>
      <vt:lpstr>Calibri</vt:lpstr>
      <vt:lpstr>Calibri Light</vt:lpstr>
      <vt:lpstr>Office Theme</vt:lpstr>
      <vt:lpstr>PowerPoint Presentation</vt:lpstr>
      <vt:lpstr>Theme</vt:lpstr>
      <vt:lpstr>Existing Solutions &amp; Gaps</vt:lpstr>
      <vt:lpstr>Our Solutions &amp; Architecture Diagram</vt:lpstr>
      <vt:lpstr>Demo &amp; Product Walkthrough</vt:lpstr>
      <vt:lpstr>Tools and tech stack used</vt:lpstr>
      <vt:lpstr>Impact &amp; Use case</vt:lpstr>
      <vt:lpstr>Innovation highlights, results and limitations</vt:lpstr>
      <vt:lpstr>What’s next</vt:lpstr>
      <vt:lpstr>Brownie points slide( differentiation)</vt:lpstr>
      <vt:lpstr>Checklist- Updated on Public GitHub</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Binny Lakra/PRISM /SRI-Bangalore/Professional/Samsung Electronics</dc:creator>
  <cp:lastModifiedBy>Binny Lakra/PRISM /SRI-Bangalore/Professional/Samsung Electronics</cp:lastModifiedBy>
  <cp:revision>6</cp:revision>
  <dcterms:created xsi:type="dcterms:W3CDTF">2026-09-07T12:01:01Z</dcterms:created>
  <dcterms:modified xsi:type="dcterms:W3CDTF">2026-09-08T10:03:30Z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NSCPROP">
    <vt:lpwstr>NSCCustomProperty</vt:lpwstr>
  </property>
</Properties>
</file>